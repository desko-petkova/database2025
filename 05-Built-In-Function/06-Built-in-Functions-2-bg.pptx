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729" r:id="rId2"/>
    <p:sldId id="730" r:id="rId3"/>
    <p:sldId id="752" r:id="rId4"/>
    <p:sldId id="753" r:id="rId5"/>
    <p:sldId id="754" r:id="rId6"/>
    <p:sldId id="755" r:id="rId7"/>
    <p:sldId id="756" r:id="rId8"/>
    <p:sldId id="757" r:id="rId9"/>
    <p:sldId id="758" r:id="rId10"/>
    <p:sldId id="759" r:id="rId11"/>
    <p:sldId id="773" r:id="rId12"/>
    <p:sldId id="760" r:id="rId13"/>
    <p:sldId id="764" r:id="rId14"/>
    <p:sldId id="761" r:id="rId15"/>
    <p:sldId id="762" r:id="rId16"/>
    <p:sldId id="763" r:id="rId17"/>
    <p:sldId id="728" r:id="rId18"/>
    <p:sldId id="401" r:id="rId19"/>
    <p:sldId id="685" r:id="rId20"/>
    <p:sldId id="4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7341D01-89B3-4CFB-B407-3831D95B3143}">
          <p14:sldIdLst>
            <p14:sldId id="729"/>
            <p14:sldId id="730"/>
          </p14:sldIdLst>
        </p14:section>
        <p14:section name="Date Functions" id="{78D6F9A6-11CE-4A0C-B2C3-543E4B99CC86}">
          <p14:sldIdLst>
            <p14:sldId id="752"/>
            <p14:sldId id="753"/>
            <p14:sldId id="754"/>
            <p14:sldId id="755"/>
            <p14:sldId id="756"/>
            <p14:sldId id="757"/>
          </p14:sldIdLst>
        </p14:section>
        <p14:section name="Other Functions" id="{EC886D21-A6F6-46E5-8175-CBCD7EE2CDE2}">
          <p14:sldIdLst>
            <p14:sldId id="758"/>
            <p14:sldId id="759"/>
            <p14:sldId id="773"/>
            <p14:sldId id="760"/>
            <p14:sldId id="764"/>
          </p14:sldIdLst>
        </p14:section>
        <p14:section name="Wildcards" id="{C423FA4A-4123-4A80-BA67-93F28EA0C8C8}">
          <p14:sldIdLst>
            <p14:sldId id="761"/>
            <p14:sldId id="762"/>
            <p14:sldId id="763"/>
          </p14:sldIdLst>
        </p14:section>
        <p14:section name="Conclusion" id="{282B15E9-47C9-491A-B8C0-7AC26F64E715}">
          <p14:sldIdLst>
            <p14:sldId id="728"/>
            <p14:sldId id="401"/>
            <p14:sldId id="685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5214" autoAdjust="0"/>
  </p:normalViewPr>
  <p:slideViewPr>
    <p:cSldViewPr showGuides="1">
      <p:cViewPr varScale="1">
        <p:scale>
          <a:sx n="65" d="100"/>
          <a:sy n="65" d="100"/>
        </p:scale>
        <p:origin x="810" y="7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2400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23.11.2021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D1B56-C1F4-444B-BE7C-941C6446CC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20992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102E505-8D06-42B9-9543-13E11BBC0F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59468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D89BC26-48ED-4D41-8F75-77E2745ED3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57884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2CA604E-D9BA-4278-873E-D833581F05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50063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7726EC7-1393-49B9-A262-2CD95FCCA0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83411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5B4FDE6-C501-47C7-9F8D-60765EEC89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6744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7" name="Slide Body Text">
            <a:extLst>
              <a:ext uri="{FF2B5EF4-FFF2-40B4-BE49-F238E27FC236}">
                <a16:creationId xmlns:a16="http://schemas.microsoft.com/office/drawing/2014/main" id="{1E60575F-8475-4C78-97A7-27D7891D27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15" name="Code Box">
            <a:extLst>
              <a:ext uri="{FF2B5EF4-FFF2-40B4-BE49-F238E27FC236}">
                <a16:creationId xmlns:a16="http://schemas.microsoft.com/office/drawing/2014/main" id="{29C63EC2-5578-406B-8C2A-23FDE6C14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318684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77" r:id="rId4"/>
    <p:sldLayoutId id="2147483679" r:id="rId5"/>
    <p:sldLayoutId id="2147483680" r:id="rId6"/>
    <p:sldLayoutId id="2147483688" r:id="rId7"/>
    <p:sldLayoutId id="2147483684" r:id="rId8"/>
    <p:sldLayoutId id="2147483690" r:id="rId9"/>
    <p:sldLayoutId id="2147483683" r:id="rId10"/>
    <p:sldLayoutId id="2147483685" r:id="rId11"/>
    <p:sldLayoutId id="2147483686" r:id="rId12"/>
    <p:sldLayoutId id="2147483687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sql/t-sql/functions/datepart-transact-sql?view=sql-server-2017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hyperlink" Target="https://softuni.b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6859" y="1230568"/>
            <a:ext cx="10965303" cy="882654"/>
          </a:xfrm>
        </p:spPr>
        <p:txBody>
          <a:bodyPr>
            <a:noAutofit/>
          </a:bodyPr>
          <a:lstStyle/>
          <a:p>
            <a:r>
              <a:rPr lang="bg-BG" sz="2800" dirty="0"/>
              <a:t>Други функции</a:t>
            </a:r>
            <a:r>
              <a:rPr lang="en-US" sz="2800" dirty="0"/>
              <a:t> </a:t>
            </a:r>
            <a:r>
              <a:rPr lang="bg-BG" sz="2800" dirty="0"/>
              <a:t>и</a:t>
            </a:r>
            <a:r>
              <a:rPr lang="en-US" sz="2800" dirty="0"/>
              <a:t> </a:t>
            </a:r>
            <a:r>
              <a:rPr lang="bg-BG" sz="2800" dirty="0"/>
              <a:t>маски (</a:t>
            </a:r>
            <a:r>
              <a:rPr lang="en-US" sz="2800" dirty="0"/>
              <a:t>wildcards</a:t>
            </a:r>
            <a:r>
              <a:rPr lang="bg-BG" sz="2800" dirty="0"/>
              <a:t>)</a:t>
            </a:r>
            <a:r>
              <a:rPr lang="en-US" sz="2800" dirty="0"/>
              <a:t> </a:t>
            </a:r>
            <a:r>
              <a:rPr lang="bg-BG" sz="2800" dirty="0"/>
              <a:t>в</a:t>
            </a:r>
            <a:r>
              <a:rPr lang="en-US" sz="2800" dirty="0"/>
              <a:t> SQL Server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Вградени функции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71147" y="4650873"/>
            <a:ext cx="2951518" cy="958651"/>
          </a:xfrm>
        </p:spPr>
        <p:txBody>
          <a:bodyPr/>
          <a:lstStyle/>
          <a:p>
            <a:r>
              <a:rPr lang="en-US" dirty="0"/>
              <a:t>SoftUni Team</a:t>
            </a:r>
          </a:p>
          <a:p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71147" y="5175130"/>
            <a:ext cx="2951518" cy="832014"/>
          </a:xfrm>
        </p:spPr>
        <p:txBody>
          <a:bodyPr/>
          <a:lstStyle/>
          <a:p>
            <a:r>
              <a:rPr lang="en-US" dirty="0"/>
              <a:t>Technical Trainers</a:t>
            </a:r>
          </a:p>
          <a:p>
            <a:endParaRPr lang="bg-B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1FDE4B-E7CC-429A-9758-375FF267A5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9" y="2496258"/>
            <a:ext cx="2212117" cy="5517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075" y="2264347"/>
            <a:ext cx="2717812" cy="255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2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Функции за дата</a:t>
            </a:r>
            <a:endParaRPr lang="en-US" dirty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Други полезни функции</a:t>
            </a:r>
            <a:endParaRPr lang="en-US" dirty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Маски (</a:t>
            </a:r>
            <a:r>
              <a:rPr lang="en-US" dirty="0"/>
              <a:t>Wildcards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9F3CE4-01F3-4A81-8641-0F62FEC4CF7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B3BF-7E09-4A6A-A40C-80022F587F6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GETDATE, DATEDIFF, DATEPART, Etc.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860" y="1150372"/>
            <a:ext cx="2812029" cy="281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8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DATEPART </a:t>
            </a:r>
            <a:r>
              <a:rPr lang="en-US" dirty="0"/>
              <a:t>– </a:t>
            </a:r>
            <a:r>
              <a:rPr lang="bg-BG" dirty="0"/>
              <a:t>извлича част от дата като цяло число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Part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всяка част и формат на дата или час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bg-BG" dirty="0"/>
              <a:t>За пълни инструкции вижте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  <a:hlinkClick r:id="rId2"/>
              </a:rPr>
              <a:t>official documentation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дата </a:t>
            </a:r>
            <a:r>
              <a:rPr lang="en-US" dirty="0"/>
              <a:t>(1)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582192" y="2620385"/>
            <a:ext cx="702761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DATEPART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(Part, Date)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582192" y="3581401"/>
            <a:ext cx="7027616" cy="1634295"/>
            <a:chOff x="2360612" y="3733800"/>
            <a:chExt cx="7027616" cy="1634295"/>
          </a:xfrm>
        </p:grpSpPr>
        <p:grpSp>
          <p:nvGrpSpPr>
            <p:cNvPr id="15" name="Group 14"/>
            <p:cNvGrpSpPr/>
            <p:nvPr/>
          </p:nvGrpSpPr>
          <p:grpSpPr>
            <a:xfrm>
              <a:off x="2360612" y="3733800"/>
              <a:ext cx="3276600" cy="1634295"/>
              <a:chOff x="2360612" y="3505200"/>
              <a:chExt cx="3276600" cy="1634295"/>
            </a:xfrm>
          </p:grpSpPr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2360612" y="350520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year, yyyy, yy</a:t>
                </a: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2360612" y="4049965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month, mm, m</a:t>
                </a: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2360612" y="459473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day, dd, d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111628" y="3733800"/>
              <a:ext cx="3276600" cy="1634295"/>
              <a:chOff x="2360612" y="3505200"/>
              <a:chExt cx="3276600" cy="1634295"/>
            </a:xfrm>
          </p:grpSpPr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2360612" y="350520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itchFamily="49" charset="0"/>
                    <a:cs typeface="Consolas" pitchFamily="49" charset="0"/>
                  </a:rPr>
                  <a:t>YEAR</a:t>
                </a: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(Date)</a:t>
                </a:r>
              </a:p>
            </p:txBody>
          </p:sp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2360612" y="4049965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itchFamily="49" charset="0"/>
                    <a:cs typeface="Consolas" pitchFamily="49" charset="0"/>
                  </a:rPr>
                  <a:t>MONTH</a:t>
                </a: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(Date)</a:t>
                </a: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2360612" y="459473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bg1"/>
                    </a:solidFill>
                    <a:latin typeface="Consolas" pitchFamily="49" charset="0"/>
                    <a:cs typeface="Consolas" pitchFamily="49" charset="0"/>
                  </a:rPr>
                  <a:t>DAY</a:t>
                </a:r>
                <a:r>
                  <a:rPr lang="en-US" sz="2800" b="1" noProof="1">
                    <a:latin typeface="Consolas" pitchFamily="49" charset="0"/>
                    <a:cs typeface="Consolas" pitchFamily="49" charset="0"/>
                  </a:rPr>
                  <a:t>(Date)</a:t>
                </a:r>
              </a:p>
            </p:txBody>
          </p:sp>
        </p:grp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CD196A07-5FF3-4990-BAB5-CAB83FE6A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143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Подгответе обобщени данни за продажбите, като покажете </a:t>
            </a:r>
            <a:r>
              <a:rPr lang="ru-RU" dirty="0" err="1"/>
              <a:t>годишно</a:t>
            </a:r>
            <a:r>
              <a:rPr lang="ru-RU" dirty="0"/>
              <a:t> </a:t>
            </a:r>
            <a:r>
              <a:rPr lang="ru-RU" dirty="0" err="1"/>
              <a:t>тримесечие</a:t>
            </a:r>
            <a:r>
              <a:rPr lang="ru-RU" dirty="0"/>
              <a:t>, </a:t>
            </a:r>
            <a:r>
              <a:rPr lang="ru-RU" dirty="0" err="1"/>
              <a:t>месец</a:t>
            </a:r>
            <a:r>
              <a:rPr lang="ru-RU" dirty="0"/>
              <a:t>, година и </a:t>
            </a:r>
            <a:r>
              <a:rPr lang="ru-RU" dirty="0" err="1"/>
              <a:t>ден</a:t>
            </a:r>
            <a:r>
              <a:rPr lang="ru-RU" dirty="0"/>
              <a:t> на </a:t>
            </a:r>
            <a:r>
              <a:rPr lang="ru-RU" dirty="0" err="1"/>
              <a:t>продажба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US" dirty="0"/>
              <a:t>: </a:t>
            </a:r>
            <a:r>
              <a:rPr lang="bg-BG" dirty="0"/>
              <a:t>Тримесечен отчет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5902"/>
          <a:stretch/>
        </p:blipFill>
        <p:spPr>
          <a:xfrm>
            <a:off x="3265487" y="4738704"/>
            <a:ext cx="5657850" cy="17862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7489"/>
          <a:stretch/>
        </p:blipFill>
        <p:spPr>
          <a:xfrm>
            <a:off x="3258668" y="2363475"/>
            <a:ext cx="5671490" cy="1887078"/>
          </a:xfrm>
          <a:prstGeom prst="rect">
            <a:avLst/>
          </a:prstGeom>
        </p:spPr>
      </p:pic>
      <p:sp>
        <p:nvSpPr>
          <p:cNvPr id="7" name="Arrow: Down 6"/>
          <p:cNvSpPr/>
          <p:nvPr/>
        </p:nvSpPr>
        <p:spPr>
          <a:xfrm>
            <a:off x="5871000" y="4308614"/>
            <a:ext cx="450000" cy="31396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ED936785-D3A0-411D-8DA3-233198042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376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Използвайте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DATEPART</a:t>
            </a:r>
            <a:r>
              <a:rPr lang="en-US" dirty="0"/>
              <a:t> </a:t>
            </a:r>
            <a:r>
              <a:rPr lang="bg-BG" dirty="0"/>
              <a:t>за да получите съответните части от датата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bg-BG" dirty="0"/>
              <a:t>Този израз може да бъде полезен като Изглед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Тримесечен отчет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3000" y="2377078"/>
            <a:ext cx="9906000" cy="280692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InvoiceId, Total,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DATEPART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QUARTER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InvoiceDate) AS Quarter,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DATEPART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MONTH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InvoiceDate) AS Month,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DATEPART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YEAR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InvoiceDate) AS Year,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DATEPART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DAY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InvoiceDate) AS Day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Invoice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86E9768-6440-4F2B-BA7B-7FAA5912A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95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DATEDIFF</a:t>
            </a:r>
            <a:r>
              <a:rPr lang="en-US" dirty="0"/>
              <a:t> – </a:t>
            </a:r>
            <a:r>
              <a:rPr lang="bg-BG" dirty="0"/>
              <a:t>намира разликата между две дати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Part</a:t>
            </a:r>
            <a:r>
              <a:rPr lang="en-US" dirty="0"/>
              <a:t> </a:t>
            </a:r>
            <a:r>
              <a:rPr lang="bg-BG" dirty="0"/>
              <a:t>може да бъде </a:t>
            </a:r>
            <a:r>
              <a:rPr lang="bg-BG" b="1" dirty="0">
                <a:solidFill>
                  <a:schemeClr val="bg1"/>
                </a:solidFill>
              </a:rPr>
              <a:t>всяка част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bg-BG" dirty="0"/>
              <a:t>и</a:t>
            </a:r>
            <a:r>
              <a:rPr lang="en-US" dirty="0"/>
              <a:t> </a:t>
            </a:r>
            <a:r>
              <a:rPr lang="bg-BG" b="1" dirty="0">
                <a:solidFill>
                  <a:schemeClr val="bg1"/>
                </a:solidFill>
              </a:rPr>
              <a:t>формат</a:t>
            </a:r>
            <a:r>
              <a:rPr lang="en-US" dirty="0"/>
              <a:t> </a:t>
            </a:r>
            <a:r>
              <a:rPr lang="bg-BG" dirty="0"/>
              <a:t>от дата или час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 smtClean="0"/>
              <a:t>Извлечете </a:t>
            </a:r>
            <a:r>
              <a:rPr lang="bg-BG" dirty="0"/>
              <a:t>стажа на служителите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дата </a:t>
            </a:r>
            <a:r>
              <a:rPr lang="en-US" dirty="0"/>
              <a:t>(2)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47800" y="2560113"/>
            <a:ext cx="92964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DATEDIFF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(Part, FirstDate, SecondDate)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44624" y="4274461"/>
            <a:ext cx="9299576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 FirstName, LastName,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DATEDIFF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YEAR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HireDate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2800" b="1" noProof="1" smtClean="0">
                <a:latin typeface="Consolas" pitchFamily="49" charset="0"/>
                <a:cs typeface="Consolas" pitchFamily="49" charset="0"/>
              </a:rPr>
              <a:t>'</a:t>
            </a:r>
            <a:r>
              <a:rPr lang="en-US" sz="2800" b="1" noProof="1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2021/11/23</a:t>
            </a:r>
            <a:r>
              <a:rPr lang="en-US" sz="2800" b="1" noProof="1" smtClean="0">
                <a:latin typeface="Consolas" pitchFamily="49" charset="0"/>
                <a:cs typeface="Consolas" pitchFamily="49" charset="0"/>
              </a:rPr>
              <a:t>')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AS [Years In Service]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Employees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AA6631E-CD72-4314-916D-4BEA35DCC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541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90402" y="1106125"/>
            <a:ext cx="11818096" cy="5742875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DATENAME</a:t>
            </a:r>
            <a:r>
              <a:rPr lang="en-US" dirty="0"/>
              <a:t> – </a:t>
            </a:r>
            <a:r>
              <a:rPr lang="bg-BG" dirty="0"/>
              <a:t>връща низово представяне на съответната част от датата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DATEADD</a:t>
            </a:r>
            <a:r>
              <a:rPr lang="en-US" dirty="0"/>
              <a:t> – </a:t>
            </a:r>
            <a:r>
              <a:rPr lang="bg-BG" dirty="0"/>
              <a:t>извършва пресмятане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Part</a:t>
            </a:r>
            <a:r>
              <a:rPr lang="en-US" dirty="0"/>
              <a:t> </a:t>
            </a:r>
            <a:r>
              <a:rPr lang="bg-BG" dirty="0"/>
              <a:t>може да бъде </a:t>
            </a:r>
            <a:r>
              <a:rPr lang="bg-BG" b="1" dirty="0">
                <a:solidFill>
                  <a:schemeClr val="bg1"/>
                </a:solidFill>
              </a:rPr>
              <a:t>всяка част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bg-BG" dirty="0"/>
              <a:t>и</a:t>
            </a:r>
            <a:r>
              <a:rPr lang="en-US" dirty="0"/>
              <a:t> </a:t>
            </a:r>
            <a:r>
              <a:rPr lang="bg-BG" b="1" dirty="0">
                <a:solidFill>
                  <a:schemeClr val="bg1"/>
                </a:solidFill>
              </a:rPr>
              <a:t>формат</a:t>
            </a:r>
            <a:r>
              <a:rPr lang="en-US" dirty="0"/>
              <a:t> </a:t>
            </a:r>
            <a:r>
              <a:rPr lang="bg-BG" dirty="0"/>
              <a:t>на дата или час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GETDATE</a:t>
            </a:r>
            <a:r>
              <a:rPr lang="en-US" dirty="0"/>
              <a:t> – </a:t>
            </a:r>
            <a:r>
              <a:rPr lang="ru-RU" dirty="0" err="1"/>
              <a:t>Връща</a:t>
            </a:r>
            <a:r>
              <a:rPr lang="ru-RU" dirty="0"/>
              <a:t> </a:t>
            </a:r>
            <a:r>
              <a:rPr lang="ru-RU" dirty="0" err="1"/>
              <a:t>текущата</a:t>
            </a:r>
            <a:r>
              <a:rPr lang="ru-RU" dirty="0"/>
              <a:t> дата и час</a:t>
            </a: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EOMONTH</a:t>
            </a:r>
            <a:r>
              <a:rPr lang="en-US" dirty="0"/>
              <a:t> – </a:t>
            </a:r>
            <a:r>
              <a:rPr lang="ru-RU" dirty="0" err="1"/>
              <a:t>връща</a:t>
            </a:r>
            <a:r>
              <a:rPr lang="ru-RU" dirty="0"/>
              <a:t> </a:t>
            </a:r>
            <a:r>
              <a:rPr lang="ru-RU" dirty="0" err="1"/>
              <a:t>последния</a:t>
            </a:r>
            <a:r>
              <a:rPr lang="ru-RU" dirty="0"/>
              <a:t> </a:t>
            </a:r>
            <a:r>
              <a:rPr lang="ru-RU" dirty="0" err="1"/>
              <a:t>ден</a:t>
            </a:r>
            <a:r>
              <a:rPr lang="ru-RU" dirty="0"/>
              <a:t> от </a:t>
            </a:r>
            <a:r>
              <a:rPr lang="ru-RU" dirty="0" err="1"/>
              <a:t>месеца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дата </a:t>
            </a:r>
            <a:r>
              <a:rPr lang="en-US" dirty="0"/>
              <a:t>(3)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057400" y="2037602"/>
            <a:ext cx="8077200" cy="1205642"/>
            <a:chOff x="2055812" y="1766158"/>
            <a:chExt cx="8077200" cy="1205642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55812" y="1766158"/>
              <a:ext cx="80772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DATENAME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(Part, Date)</a:t>
              </a: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055812" y="2427035"/>
              <a:ext cx="80772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SELECT </a:t>
              </a: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DATENAME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(weekday, '2017/01/27')</a:t>
              </a:r>
            </a:p>
          </p:txBody>
        </p:sp>
      </p:grp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57400" y="4329000"/>
            <a:ext cx="80772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DATEADD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(Part, Number, Date)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7400" y="5539235"/>
            <a:ext cx="80772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GETDATE()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475667A8-B73B-4975-8D85-BFF7295E2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41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097129" y="1198118"/>
            <a:ext cx="1997741" cy="2351314"/>
            <a:chOff x="5043930" y="2217436"/>
            <a:chExt cx="2100964" cy="2423128"/>
          </a:xfrm>
        </p:grpSpPr>
        <p:pic>
          <p:nvPicPr>
            <p:cNvPr id="4" name="Picture 3" descr="http://www.database-repair-software.com/images/dbf_logo.jpg"/>
            <p:cNvPicPr>
              <a:picLocks noChangeAspect="1" noChangeArrowheads="1"/>
            </p:cNvPicPr>
            <p:nvPr/>
          </p:nvPicPr>
          <p:blipFill>
            <a:blip r:embed="rId2" cstate="screen">
              <a:lum bright="-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3930" y="2522236"/>
              <a:ext cx="2100964" cy="2118328"/>
            </a:xfrm>
            <a:prstGeom prst="roundRect">
              <a:avLst>
                <a:gd name="adj" fmla="val 3251"/>
              </a:avLst>
            </a:prstGeom>
            <a:noFill/>
            <a:ln>
              <a:solidFill>
                <a:schemeClr val="bg1">
                  <a:lumMod val="50000"/>
                  <a:lumOff val="50000"/>
                </a:schemeClr>
              </a:solidFill>
            </a:ln>
            <a:effectLst>
              <a:reflection blurRad="6350" stA="52000" endA="300" endPos="35000" dir="5400000" sy="-100000" algn="bl" rotWithShape="0"/>
            </a:effectLst>
          </p:spPr>
        </p:pic>
        <p:pic>
          <p:nvPicPr>
            <p:cNvPr id="7" name="Picture 6" descr="http://fortunebrainstormtech.files.wordpress.com/2007/10/data-icon1.jpg"/>
            <p:cNvPicPr>
              <a:picLocks noChangeAspect="1" noChangeArrowheads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525" y="2217436"/>
              <a:ext cx="945121" cy="652132"/>
            </a:xfrm>
            <a:prstGeom prst="rect">
              <a:avLst/>
            </a:prstGeom>
            <a:noFill/>
            <a:effectLst>
              <a:softEdge rad="31750"/>
            </a:effectLst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8406F817-3FA8-4EE7-A39F-715E7840AAE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Други функции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4B79A7A-CB8E-41D5-9799-9A829C4E6B2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 dirty="0"/>
              <a:t>CAST, CONVERT, OFFSET, FETCH</a:t>
            </a:r>
          </a:p>
        </p:txBody>
      </p:sp>
    </p:spTree>
    <p:extLst>
      <p:ext uri="{BB962C8B-B14F-4D97-AF65-F5344CB8AC3E}">
        <p14:creationId xmlns:p14="http://schemas.microsoft.com/office/powerpoint/2010/main" val="392420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CAST </a:t>
            </a:r>
            <a:r>
              <a:rPr lang="en-US" dirty="0"/>
              <a:t>&amp; </a:t>
            </a:r>
            <a:r>
              <a:rPr lang="en-US" b="1" dirty="0">
                <a:solidFill>
                  <a:schemeClr val="bg1"/>
                </a:solidFill>
              </a:rPr>
              <a:t>CONVERT</a:t>
            </a:r>
            <a:r>
              <a:rPr lang="en-US" dirty="0"/>
              <a:t> – </a:t>
            </a:r>
            <a:r>
              <a:rPr lang="bg-BG" dirty="0"/>
              <a:t>преобразуване между типовете данни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ISNULL</a:t>
            </a:r>
            <a:r>
              <a:rPr lang="en-US" dirty="0"/>
              <a:t> – </a:t>
            </a:r>
            <a:r>
              <a:rPr lang="bg-BG" dirty="0"/>
              <a:t>заменя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NULL</a:t>
            </a:r>
            <a:r>
              <a:rPr lang="en-US" dirty="0"/>
              <a:t> </a:t>
            </a:r>
            <a:r>
              <a:rPr lang="bg-BG" dirty="0"/>
              <a:t>стойностите с</a:t>
            </a:r>
            <a:r>
              <a:rPr lang="en-US" dirty="0"/>
              <a:t> </a:t>
            </a:r>
            <a:r>
              <a:rPr lang="en-US" b="1" dirty="0" err="1">
                <a:solidFill>
                  <a:schemeClr val="bg1"/>
                </a:solidFill>
              </a:rPr>
              <a:t>DefaultValue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/>
              <a:t>Покажете</a:t>
            </a:r>
            <a:r>
              <a:rPr lang="en-US" dirty="0"/>
              <a:t> “Not Finished” </a:t>
            </a:r>
            <a:r>
              <a:rPr lang="bg-BG" dirty="0"/>
              <a:t>за проекти без</a:t>
            </a:r>
            <a:r>
              <a:rPr lang="en-US" dirty="0"/>
              <a:t> </a:t>
            </a:r>
            <a:r>
              <a:rPr lang="en-US" noProof="1"/>
              <a:t>EndDate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Други функции </a:t>
            </a:r>
            <a:r>
              <a:rPr lang="en-US" dirty="0"/>
              <a:t>(1)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95600" y="1828800"/>
            <a:ext cx="6400800" cy="1089530"/>
            <a:chOff x="1446212" y="2046035"/>
            <a:chExt cx="9296400" cy="1089530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46212" y="2046035"/>
              <a:ext cx="92964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CAST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(Data AS NewType)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446212" y="2590800"/>
              <a:ext cx="92964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CONVERT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(NewType, Data)</a:t>
              </a:r>
            </a:p>
          </p:txBody>
        </p:sp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92919" y="3640750"/>
            <a:ext cx="640298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ISNULL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(Data, DefaultValue)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20824" y="4877586"/>
            <a:ext cx="109471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ProjectID, Name,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ISNULL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(CAST(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EndDate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varchar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),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Not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Finished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Projects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073CAC3-3B03-4E41-94A5-A29FC568E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767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COALESCE</a:t>
            </a:r>
            <a:r>
              <a:rPr lang="en-US" dirty="0"/>
              <a:t> – </a:t>
            </a:r>
            <a:r>
              <a:rPr lang="ru-RU" dirty="0" err="1"/>
              <a:t>оценява</a:t>
            </a:r>
            <a:r>
              <a:rPr lang="ru-RU" dirty="0"/>
              <a:t> </a:t>
            </a:r>
            <a:r>
              <a:rPr lang="ru-RU" dirty="0" err="1"/>
              <a:t>аргументите</a:t>
            </a:r>
            <a:r>
              <a:rPr lang="ru-RU" dirty="0"/>
              <a:t> в </a:t>
            </a:r>
            <a:r>
              <a:rPr lang="ru-RU" dirty="0" err="1"/>
              <a:t>реда</a:t>
            </a:r>
            <a:r>
              <a:rPr lang="ru-RU" dirty="0"/>
              <a:t> на </a:t>
            </a:r>
            <a:r>
              <a:rPr lang="ru-RU" dirty="0" err="1"/>
              <a:t>записване</a:t>
            </a:r>
            <a:r>
              <a:rPr lang="ru-RU" dirty="0"/>
              <a:t> и </a:t>
            </a:r>
            <a:r>
              <a:rPr lang="ru-RU" dirty="0" err="1"/>
              <a:t>връща</a:t>
            </a:r>
            <a:r>
              <a:rPr lang="ru-RU" dirty="0"/>
              <a:t> </a:t>
            </a:r>
            <a:r>
              <a:rPr lang="ru-RU" dirty="0" err="1"/>
              <a:t>текущата</a:t>
            </a:r>
            <a:r>
              <a:rPr lang="ru-RU" dirty="0"/>
              <a:t> </a:t>
            </a:r>
            <a:r>
              <a:rPr lang="ru-RU" dirty="0" err="1"/>
              <a:t>стойност</a:t>
            </a:r>
            <a:r>
              <a:rPr lang="ru-RU" dirty="0"/>
              <a:t> на </a:t>
            </a:r>
            <a:r>
              <a:rPr lang="ru-RU" dirty="0" err="1"/>
              <a:t>първия</a:t>
            </a:r>
            <a:r>
              <a:rPr lang="ru-RU" dirty="0"/>
              <a:t> </a:t>
            </a:r>
            <a:r>
              <a:rPr lang="ru-RU" dirty="0" err="1"/>
              <a:t>израз</a:t>
            </a:r>
            <a:r>
              <a:rPr lang="ru-RU" dirty="0"/>
              <a:t>,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първоначално</a:t>
            </a:r>
            <a:r>
              <a:rPr lang="ru-RU" dirty="0"/>
              <a:t> не е NULL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Други функции </a:t>
            </a:r>
            <a:r>
              <a:rPr lang="en-US" dirty="0"/>
              <a:t>(2)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39586" y="3559682"/>
            <a:ext cx="9112827" cy="188128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COALESCE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(NULL, NULL, 'third_value', 'fourth_value');</a:t>
            </a:r>
          </a:p>
          <a:p>
            <a:pPr>
              <a:lnSpc>
                <a:spcPct val="105000"/>
              </a:lnSpc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// third_value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3F4B233-17EA-4A11-9E04-35B48FCF9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621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OFFSET</a:t>
            </a:r>
            <a:r>
              <a:rPr lang="en-US" dirty="0"/>
              <a:t> &amp; </a:t>
            </a:r>
            <a:r>
              <a:rPr lang="en-US" b="1" dirty="0">
                <a:solidFill>
                  <a:schemeClr val="bg1"/>
                </a:solidFill>
              </a:rPr>
              <a:t>FETCH </a:t>
            </a:r>
            <a:r>
              <a:rPr lang="en-US" dirty="0"/>
              <a:t>– </a:t>
            </a:r>
            <a:r>
              <a:rPr lang="ru-RU" dirty="0" err="1"/>
              <a:t>извлича</a:t>
            </a:r>
            <a:r>
              <a:rPr lang="ru-RU" dirty="0"/>
              <a:t> само </a:t>
            </a:r>
            <a:r>
              <a:rPr lang="ru-RU" dirty="0" err="1"/>
              <a:t>конкретни</a:t>
            </a:r>
            <a:r>
              <a:rPr lang="ru-RU" dirty="0"/>
              <a:t> </a:t>
            </a:r>
            <a:r>
              <a:rPr lang="ru-RU" dirty="0" err="1"/>
              <a:t>редове</a:t>
            </a:r>
            <a:r>
              <a:rPr lang="ru-RU" dirty="0"/>
              <a:t> от </a:t>
            </a:r>
            <a:r>
              <a:rPr lang="ru-RU" dirty="0" err="1"/>
              <a:t>извадката</a:t>
            </a:r>
            <a:r>
              <a:rPr lang="ru-RU" dirty="0"/>
              <a:t> с </a:t>
            </a:r>
            <a:r>
              <a:rPr lang="ru-RU" dirty="0" err="1"/>
              <a:t>резултати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bg-BG" dirty="0" err="1"/>
              <a:t>Изпозлва</a:t>
            </a:r>
            <a:r>
              <a:rPr lang="bg-BG" dirty="0"/>
              <a:t> се в комбинация с </a:t>
            </a:r>
            <a:r>
              <a:rPr lang="en-US" b="1" dirty="0">
                <a:solidFill>
                  <a:schemeClr val="bg1"/>
                </a:solidFill>
              </a:rPr>
              <a:t>ORDER BY </a:t>
            </a:r>
            <a:r>
              <a:rPr lang="bg-BG" dirty="0"/>
              <a:t>за страниране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Други функции </a:t>
            </a:r>
            <a:r>
              <a:rPr lang="en-US" dirty="0"/>
              <a:t>(3)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587624" y="3181025"/>
            <a:ext cx="7013576" cy="233371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SELECT ID, FirstName, LastName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FROM Employees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ORDER BY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ID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OFFSET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10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ROWS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FETCH NEXT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5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ROWS ONLY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487230" y="3934127"/>
            <a:ext cx="3748770" cy="611443"/>
          </a:xfrm>
          <a:prstGeom prst="wedgeRoundRectCallout">
            <a:avLst>
              <a:gd name="adj1" fmla="val -63150"/>
              <a:gd name="adj2" fmla="val 914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Редове за пропускане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279840" y="5877557"/>
            <a:ext cx="3748770" cy="611443"/>
          </a:xfrm>
          <a:prstGeom prst="wedgeRoundRectCallout">
            <a:avLst>
              <a:gd name="adj1" fmla="val -50452"/>
              <a:gd name="adj2" fmla="val -10656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Редове за включване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3BB5B6A-49E5-4C9D-9BC7-381669C51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780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ROW_NUMBER </a:t>
            </a:r>
            <a:r>
              <a:rPr lang="en-US" dirty="0"/>
              <a:t>– </a:t>
            </a:r>
            <a:r>
              <a:rPr lang="ru-RU" dirty="0" err="1"/>
              <a:t>винаги</a:t>
            </a:r>
            <a:r>
              <a:rPr lang="ru-RU" dirty="0"/>
              <a:t> </a:t>
            </a:r>
            <a:r>
              <a:rPr lang="ru-RU" dirty="0" err="1"/>
              <a:t>генерират</a:t>
            </a:r>
            <a:r>
              <a:rPr lang="ru-RU" dirty="0"/>
              <a:t> </a:t>
            </a:r>
            <a:r>
              <a:rPr lang="ru-RU" dirty="0" err="1"/>
              <a:t>уникални</a:t>
            </a:r>
            <a:r>
              <a:rPr lang="ru-RU" dirty="0"/>
              <a:t> </a:t>
            </a:r>
            <a:r>
              <a:rPr lang="ru-RU" dirty="0" err="1"/>
              <a:t>стойности</a:t>
            </a:r>
            <a:r>
              <a:rPr lang="ru-RU" dirty="0"/>
              <a:t> без </a:t>
            </a:r>
            <a:r>
              <a:rPr lang="ru-RU" dirty="0" err="1"/>
              <a:t>никакви</a:t>
            </a:r>
            <a:r>
              <a:rPr lang="ru-RU" dirty="0"/>
              <a:t> пропуски, </a:t>
            </a:r>
            <a:r>
              <a:rPr lang="ru-RU" dirty="0" err="1"/>
              <a:t>дори</a:t>
            </a:r>
            <a:r>
              <a:rPr lang="ru-RU" dirty="0"/>
              <a:t> </a:t>
            </a:r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връзки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RANK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–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има</a:t>
            </a:r>
            <a:r>
              <a:rPr lang="ru-RU" dirty="0"/>
              <a:t> пропуски в </a:t>
            </a:r>
            <a:r>
              <a:rPr lang="ru-RU" dirty="0" err="1"/>
              <a:t>редицата</a:t>
            </a:r>
            <a:r>
              <a:rPr lang="ru-RU" dirty="0"/>
              <a:t> и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стойностите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еднакви</a:t>
            </a:r>
            <a:r>
              <a:rPr lang="ru-RU" dirty="0"/>
              <a:t>, те </a:t>
            </a:r>
            <a:r>
              <a:rPr lang="ru-RU" dirty="0" err="1"/>
              <a:t>получават</a:t>
            </a:r>
            <a:r>
              <a:rPr lang="ru-RU" dirty="0"/>
              <a:t> </a:t>
            </a:r>
            <a:r>
              <a:rPr lang="ru-RU" dirty="0" err="1"/>
              <a:t>същия</a:t>
            </a:r>
            <a:r>
              <a:rPr lang="ru-RU" dirty="0"/>
              <a:t> ранг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DENSE_RANK </a:t>
            </a:r>
            <a:r>
              <a:rPr lang="en-US" dirty="0"/>
              <a:t>– </a:t>
            </a:r>
            <a:r>
              <a:rPr lang="ru-RU" dirty="0" err="1"/>
              <a:t>връща</a:t>
            </a:r>
            <a:r>
              <a:rPr lang="ru-RU" dirty="0"/>
              <a:t> </a:t>
            </a:r>
            <a:r>
              <a:rPr lang="ru-RU" dirty="0" err="1"/>
              <a:t>същия</a:t>
            </a:r>
            <a:r>
              <a:rPr lang="ru-RU" dirty="0"/>
              <a:t> ранг за </a:t>
            </a:r>
            <a:r>
              <a:rPr lang="ru-RU" dirty="0" err="1"/>
              <a:t>връзки</a:t>
            </a:r>
            <a:r>
              <a:rPr lang="ru-RU" dirty="0"/>
              <a:t>, но </a:t>
            </a:r>
            <a:r>
              <a:rPr lang="ru-RU" dirty="0" err="1"/>
              <a:t>няма</a:t>
            </a:r>
            <a:r>
              <a:rPr lang="ru-RU" dirty="0"/>
              <a:t> пропуски в </a:t>
            </a:r>
            <a:r>
              <a:rPr lang="ru-RU" dirty="0" err="1"/>
              <a:t>редицата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NTILE </a:t>
            </a:r>
            <a:r>
              <a:rPr lang="en-US" dirty="0"/>
              <a:t>– </a:t>
            </a:r>
            <a:r>
              <a:rPr lang="ru-RU" dirty="0" err="1"/>
              <a:t>Разпространява</a:t>
            </a:r>
            <a:r>
              <a:rPr lang="ru-RU" dirty="0"/>
              <a:t> </a:t>
            </a:r>
            <a:r>
              <a:rPr lang="ru-RU" dirty="0" err="1"/>
              <a:t>редовете</a:t>
            </a:r>
            <a:r>
              <a:rPr lang="ru-RU" dirty="0"/>
              <a:t> в </a:t>
            </a:r>
            <a:r>
              <a:rPr lang="ru-RU" dirty="0" err="1"/>
              <a:t>подредени</a:t>
            </a:r>
            <a:r>
              <a:rPr lang="ru-RU" dirty="0"/>
              <a:t> </a:t>
            </a:r>
            <a:r>
              <a:rPr lang="ru-RU" dirty="0" err="1"/>
              <a:t>дялове</a:t>
            </a:r>
            <a:r>
              <a:rPr lang="ru-RU" dirty="0"/>
              <a:t> в определен </a:t>
            </a:r>
            <a:r>
              <a:rPr lang="ru-RU" dirty="0" err="1"/>
              <a:t>брой</a:t>
            </a:r>
            <a:r>
              <a:rPr lang="ru-RU" dirty="0"/>
              <a:t> </a:t>
            </a:r>
            <a:r>
              <a:rPr lang="ru-RU" dirty="0" err="1"/>
              <a:t>групи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подреждане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183A93B-34CB-4462-B0D1-ED1769BF0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357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50" y="678873"/>
            <a:ext cx="3532909" cy="35329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E2AFF2B-7F78-45D6-B745-47CC405086A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dirty="0"/>
              <a:t>Wildcards</a:t>
            </a:r>
            <a:r>
              <a:rPr lang="bg-BG" dirty="0"/>
              <a:t>/Маски</a:t>
            </a:r>
            <a:endParaRPr lang="en-GB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4936D47-A8AF-4D28-958A-C96F80FA915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ru-RU" dirty="0" err="1"/>
              <a:t>Избор</a:t>
            </a:r>
            <a:r>
              <a:rPr lang="ru-RU" dirty="0"/>
              <a:t> на </a:t>
            </a:r>
            <a:r>
              <a:rPr lang="ru-RU" dirty="0" err="1"/>
              <a:t>резултати</a:t>
            </a:r>
            <a:r>
              <a:rPr lang="ru-RU" dirty="0"/>
              <a:t> по частично </a:t>
            </a:r>
            <a:r>
              <a:rPr lang="ru-RU" dirty="0" err="1"/>
              <a:t>съвпадение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0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Wildcards </a:t>
            </a:r>
            <a:r>
              <a:rPr lang="bg-BG" dirty="0"/>
              <a:t>се </a:t>
            </a:r>
            <a:r>
              <a:rPr lang="bg-BG" dirty="0" err="1"/>
              <a:t>изпозлват</a:t>
            </a:r>
            <a:r>
              <a:rPr lang="bg-BG" dirty="0"/>
              <a:t> с </a:t>
            </a:r>
            <a:r>
              <a:rPr lang="en-US" b="1" dirty="0">
                <a:solidFill>
                  <a:schemeClr val="bg1"/>
                </a:solidFill>
              </a:rPr>
              <a:t>WHERE</a:t>
            </a:r>
            <a:r>
              <a:rPr lang="en-US" dirty="0"/>
              <a:t> </a:t>
            </a:r>
            <a:r>
              <a:rPr lang="bg-BG" dirty="0"/>
              <a:t>за частична филтрация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bg-BG" dirty="0"/>
              <a:t>Подобни на </a:t>
            </a:r>
            <a:r>
              <a:rPr lang="en-US" b="1" dirty="0">
                <a:solidFill>
                  <a:schemeClr val="bg1"/>
                </a:solidFill>
              </a:rPr>
              <a:t>Regular Expressions</a:t>
            </a:r>
            <a:r>
              <a:rPr lang="en-US" dirty="0"/>
              <a:t>, </a:t>
            </a:r>
            <a:r>
              <a:rPr lang="bg-BG" dirty="0"/>
              <a:t>но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bg-BG" b="1" dirty="0">
                <a:solidFill>
                  <a:schemeClr val="bg1"/>
                </a:solidFill>
              </a:rPr>
              <a:t>по-малко възможности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/>
              <a:t>Намерете всички работници, чието име </a:t>
            </a:r>
            <a:r>
              <a:rPr lang="bg-BG" b="1" dirty="0">
                <a:solidFill>
                  <a:schemeClr val="bg1"/>
                </a:solidFill>
              </a:rPr>
              <a:t>започва с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Ro</a:t>
            </a:r>
            <a:r>
              <a:rPr lang="en-US" dirty="0"/>
              <a:t>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</a:t>
            </a:r>
            <a:r>
              <a:rPr lang="en-US" dirty="0"/>
              <a:t> WHERE … LIKE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87624" y="4106486"/>
            <a:ext cx="70135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 FirstName, LastName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Employees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WHERE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FirstName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LIKE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Ro%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949902" y="5835792"/>
            <a:ext cx="2874784" cy="698208"/>
          </a:xfrm>
          <a:prstGeom prst="wedgeRoundRectCallout">
            <a:avLst>
              <a:gd name="adj1" fmla="val 4219"/>
              <a:gd name="adj2" fmla="val -981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Wildcard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символ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5E92F6E-0BB6-4343-8FED-1E2248583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390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Поддържаните знаци включват</a:t>
            </a:r>
            <a:r>
              <a:rPr lang="en-US" dirty="0"/>
              <a:t>:</a:t>
            </a:r>
          </a:p>
          <a:p>
            <a:pPr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ESCAPE</a:t>
            </a:r>
            <a:r>
              <a:rPr lang="en-US" dirty="0"/>
              <a:t> – </a:t>
            </a:r>
            <a:r>
              <a:rPr lang="bg-BG" dirty="0"/>
              <a:t>указва префикс за третиране на специални знаци като нормални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 </a:t>
            </a:r>
            <a:r>
              <a:rPr lang="bg-BG" dirty="0"/>
              <a:t>символи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79612" y="5129372"/>
            <a:ext cx="82327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 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Tracks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WHERE Name LIKE '%</a:t>
            </a:r>
            <a:r>
              <a:rPr lang="en-US" sz="2800" b="1" noProof="1" smtClean="0">
                <a:latin typeface="Consolas" pitchFamily="49" charset="0"/>
                <a:cs typeface="Consolas" pitchFamily="49" charset="0"/>
              </a:rPr>
              <a:t>max!%'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ESCAPE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!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79612" y="1865084"/>
            <a:ext cx="8232776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 any string, including zero-length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_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-- any single character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[…]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-- any character within range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[^…]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-- any character not in the range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3DDB7E8-0001-4CCA-B228-0F99E1399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769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64770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13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8775" marR="0" lvl="0" indent="-358775" algn="l" defTabSz="1218438" rtl="0" eaLnBrk="1" fontAlgn="auto" latin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3074" y="1716562"/>
            <a:ext cx="8109892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3200" dirty="0">
                <a:solidFill>
                  <a:schemeClr val="bg2"/>
                </a:solidFill>
              </a:rPr>
              <a:t>Функции за дати </a:t>
            </a:r>
            <a:r>
              <a:rPr lang="en-US" sz="3200" dirty="0">
                <a:solidFill>
                  <a:schemeClr val="bg2"/>
                </a:solidFill>
              </a:rPr>
              <a:t>-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DATEPART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DATEDIFF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br>
              <a:rPr lang="en-US" sz="3000" dirty="0">
                <a:solidFill>
                  <a:schemeClr val="bg2"/>
                </a:solidFill>
              </a:rPr>
            </a:b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GETDATE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bg-BG" sz="3000" dirty="0">
                <a:solidFill>
                  <a:schemeClr val="bg2"/>
                </a:solidFill>
              </a:rPr>
              <a:t>и </a:t>
            </a:r>
            <a:r>
              <a:rPr lang="bg-BG" sz="3000" dirty="0" err="1">
                <a:solidFill>
                  <a:schemeClr val="bg2"/>
                </a:solidFill>
              </a:rPr>
              <a:t>др</a:t>
            </a:r>
            <a:r>
              <a:rPr lang="en-US" sz="3000" dirty="0">
                <a:solidFill>
                  <a:schemeClr val="bg2"/>
                </a:solidFill>
              </a:rPr>
              <a:t>.</a:t>
            </a:r>
            <a:endParaRPr lang="en-US" sz="3000" b="1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3200" dirty="0">
                <a:solidFill>
                  <a:schemeClr val="bg2"/>
                </a:solidFill>
              </a:rPr>
              <a:t>Използвайки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en-US" sz="3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Wildcards</a:t>
            </a:r>
            <a:r>
              <a:rPr lang="en-US" sz="3200" dirty="0">
                <a:solidFill>
                  <a:schemeClr val="bg2"/>
                </a:solidFill>
              </a:rPr>
              <a:t>, </a:t>
            </a:r>
            <a:r>
              <a:rPr lang="ru-RU" sz="3200" dirty="0">
                <a:solidFill>
                  <a:schemeClr val="bg2"/>
                </a:solidFill>
              </a:rPr>
              <a:t>можем да получим </a:t>
            </a:r>
            <a:r>
              <a:rPr lang="ru-RU" sz="3200" dirty="0" err="1">
                <a:solidFill>
                  <a:schemeClr val="bg2"/>
                </a:solidFill>
              </a:rPr>
              <a:t>резултати</a:t>
            </a:r>
            <a:r>
              <a:rPr lang="ru-RU" sz="3200" dirty="0">
                <a:solidFill>
                  <a:schemeClr val="bg2"/>
                </a:solidFill>
              </a:rPr>
              <a:t> чрез </a:t>
            </a:r>
            <a:r>
              <a:rPr lang="ru-RU" sz="3200" dirty="0" err="1">
                <a:solidFill>
                  <a:schemeClr val="bg2"/>
                </a:solidFill>
              </a:rPr>
              <a:t>частични</a:t>
            </a:r>
            <a:r>
              <a:rPr lang="ru-RU" sz="3200" dirty="0">
                <a:solidFill>
                  <a:schemeClr val="bg2"/>
                </a:solidFill>
              </a:rPr>
              <a:t> </a:t>
            </a:r>
            <a:r>
              <a:rPr lang="ru-RU" sz="3200" dirty="0" err="1">
                <a:solidFill>
                  <a:schemeClr val="bg2"/>
                </a:solidFill>
              </a:rPr>
              <a:t>низови</a:t>
            </a:r>
            <a:r>
              <a:rPr lang="ru-RU" sz="3200" dirty="0">
                <a:solidFill>
                  <a:schemeClr val="bg2"/>
                </a:solidFill>
              </a:rPr>
              <a:t> </a:t>
            </a:r>
            <a:r>
              <a:rPr lang="ru-RU" sz="3200" dirty="0" err="1">
                <a:solidFill>
                  <a:schemeClr val="bg2"/>
                </a:solidFill>
              </a:rPr>
              <a:t>съвпадения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82BFA4EC-B3C8-4976-AB19-E85F0B375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993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30704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демо</a:t>
            </a:r>
            <a:r>
              <a:rPr lang="en-US" dirty="0"/>
              <a:t>, </a:t>
            </a:r>
            <a:r>
              <a:rPr lang="bg-BG" dirty="0"/>
              <a:t>упражнения</a:t>
            </a:r>
            <a:r>
              <a:rPr lang="en-US" dirty="0"/>
              <a:t>, </a:t>
            </a:r>
            <a:r>
              <a:rPr lang="bg-BG" dirty="0"/>
              <a:t>домашни работи</a:t>
            </a:r>
            <a:r>
              <a:rPr lang="en-US" dirty="0"/>
              <a:t>, </a:t>
            </a:r>
            <a:r>
              <a:rPr lang="bg-BG" dirty="0"/>
              <a:t>документи</a:t>
            </a:r>
            <a:r>
              <a:rPr lang="en-US" dirty="0"/>
              <a:t>, </a:t>
            </a:r>
            <a:r>
              <a:rPr lang="bg-BG" dirty="0"/>
              <a:t>видеа</a:t>
            </a:r>
            <a:r>
              <a:rPr lang="en-US" dirty="0"/>
              <a:t> </a:t>
            </a:r>
            <a:r>
              <a:rPr lang="bg-BG" dirty="0"/>
              <a:t>и други подобни</a:t>
            </a:r>
            <a:r>
              <a:rPr lang="en-US" dirty="0"/>
              <a:t>) </a:t>
            </a:r>
            <a:r>
              <a:rPr lang="bg-BG" dirty="0"/>
              <a:t>са</a:t>
            </a:r>
            <a:r>
              <a:rPr lang="en-US" dirty="0"/>
              <a:t> </a:t>
            </a:r>
            <a:r>
              <a:rPr lang="bg-BG" b="1" dirty="0"/>
              <a:t>обект на авторско право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Не</a:t>
            </a:r>
            <a:r>
              <a:rPr lang="bg-BG" dirty="0"/>
              <a:t>позволено</a:t>
            </a:r>
            <a:r>
              <a:rPr lang="ru-RU" dirty="0"/>
              <a:t> </a:t>
            </a:r>
            <a:r>
              <a:rPr lang="ru-RU" dirty="0" err="1"/>
              <a:t>копиране</a:t>
            </a:r>
            <a:r>
              <a:rPr lang="ru-RU" dirty="0"/>
              <a:t>, </a:t>
            </a:r>
            <a:r>
              <a:rPr lang="ru-RU" dirty="0" err="1"/>
              <a:t>възпроизвеждане</a:t>
            </a:r>
            <a:r>
              <a:rPr lang="ru-RU" dirty="0"/>
              <a:t> или </a:t>
            </a:r>
            <a:r>
              <a:rPr lang="ru-RU" dirty="0" err="1"/>
              <a:t>използване</a:t>
            </a:r>
            <a:r>
              <a:rPr lang="ru-RU" dirty="0"/>
              <a:t> е незаконно
</a:t>
            </a: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56A2C7A-7301-4EC5-A522-02D6FC8D0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799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9AFE458-4969-4508-BF12-C8C2E618EF9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5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8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296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3449</TotalTime>
  <Words>789</Words>
  <Application>Microsoft Office PowerPoint</Application>
  <PresentationFormat>Widescreen</PresentationFormat>
  <Paragraphs>155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맑은 고딕</vt:lpstr>
      <vt:lpstr>Arial</vt:lpstr>
      <vt:lpstr>Calibri</vt:lpstr>
      <vt:lpstr>Consolas</vt:lpstr>
      <vt:lpstr>Wingdings</vt:lpstr>
      <vt:lpstr>Wingdings 2</vt:lpstr>
      <vt:lpstr>SoftUni</vt:lpstr>
      <vt:lpstr>Вградени функции</vt:lpstr>
      <vt:lpstr>Съдържание</vt:lpstr>
      <vt:lpstr>GETDATE, DATEDIFF, DATEPART, Etc.</vt:lpstr>
      <vt:lpstr>Функции за дата (1)</vt:lpstr>
      <vt:lpstr>Задача: Тримесечен отчет</vt:lpstr>
      <vt:lpstr>Решение: Тримесечен отчет</vt:lpstr>
      <vt:lpstr>Функции за дата (2)</vt:lpstr>
      <vt:lpstr>Функции за дата (3)</vt:lpstr>
      <vt:lpstr>Други функции</vt:lpstr>
      <vt:lpstr>Други функции (1)</vt:lpstr>
      <vt:lpstr>Други функции (2)</vt:lpstr>
      <vt:lpstr>Други функции (3)</vt:lpstr>
      <vt:lpstr>Функции за подреждане</vt:lpstr>
      <vt:lpstr>Wildcards/Маски</vt:lpstr>
      <vt:lpstr>Използване на WHERE … LIKE</vt:lpstr>
      <vt:lpstr>Wildcard символи</vt:lpstr>
      <vt:lpstr>Обобщение</vt:lpstr>
      <vt:lpstr>Въпроси?</vt:lpstr>
      <vt:lpstr>Лиценз</vt:lpstr>
      <vt:lpstr>Trainings @ Software University (SoftUni)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Built-in Functions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Turhan Syuleymanov</cp:lastModifiedBy>
  <cp:revision>15</cp:revision>
  <dcterms:created xsi:type="dcterms:W3CDTF">2018-05-23T13:08:44Z</dcterms:created>
  <dcterms:modified xsi:type="dcterms:W3CDTF">2021-11-23T07:35:59Z</dcterms:modified>
  <cp:category>db;databases;sql;programming;computer programming;software development</cp:category>
</cp:coreProperties>
</file>