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9"/>
  </p:notesMasterIdLst>
  <p:handoutMasterIdLst>
    <p:handoutMasterId r:id="rId30"/>
  </p:handoutMasterIdLst>
  <p:sldIdLst>
    <p:sldId id="729" r:id="rId2"/>
    <p:sldId id="730" r:id="rId3"/>
    <p:sldId id="732" r:id="rId4"/>
    <p:sldId id="767" r:id="rId5"/>
    <p:sldId id="769" r:id="rId6"/>
    <p:sldId id="734" r:id="rId7"/>
    <p:sldId id="735" r:id="rId8"/>
    <p:sldId id="736" r:id="rId9"/>
    <p:sldId id="737" r:id="rId10"/>
    <p:sldId id="738" r:id="rId11"/>
    <p:sldId id="739" r:id="rId12"/>
    <p:sldId id="742" r:id="rId13"/>
    <p:sldId id="740" r:id="rId14"/>
    <p:sldId id="741" r:id="rId15"/>
    <p:sldId id="743" r:id="rId16"/>
    <p:sldId id="744" r:id="rId17"/>
    <p:sldId id="745" r:id="rId18"/>
    <p:sldId id="746" r:id="rId19"/>
    <p:sldId id="747" r:id="rId20"/>
    <p:sldId id="748" r:id="rId21"/>
    <p:sldId id="749" r:id="rId22"/>
    <p:sldId id="750" r:id="rId23"/>
    <p:sldId id="751" r:id="rId24"/>
    <p:sldId id="728" r:id="rId25"/>
    <p:sldId id="401" r:id="rId26"/>
    <p:sldId id="685" r:id="rId27"/>
    <p:sldId id="40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4301B4A-4B97-4ABB-A2CE-7D39810ECFE8}">
          <p14:sldIdLst>
            <p14:sldId id="729"/>
            <p14:sldId id="730"/>
          </p14:sldIdLst>
        </p14:section>
        <p14:section name="Functions in SQL" id="{0EC4FD32-4E64-48EB-94CF-B59DF67FECB8}">
          <p14:sldIdLst>
            <p14:sldId id="732"/>
            <p14:sldId id="767"/>
            <p14:sldId id="769"/>
          </p14:sldIdLst>
        </p14:section>
        <p14:section name="String Functions" id="{2BCEABF6-261D-46BC-8006-FE76C8FABB93}">
          <p14:sldIdLst>
            <p14:sldId id="734"/>
            <p14:sldId id="735"/>
            <p14:sldId id="736"/>
            <p14:sldId id="737"/>
            <p14:sldId id="738"/>
            <p14:sldId id="739"/>
            <p14:sldId id="742"/>
            <p14:sldId id="740"/>
            <p14:sldId id="741"/>
            <p14:sldId id="743"/>
          </p14:sldIdLst>
        </p14:section>
        <p14:section name="Math Functions" id="{E69212F1-01CC-4DAA-8D5D-BB7A6D22AECF}">
          <p14:sldIdLst>
            <p14:sldId id="744"/>
            <p14:sldId id="745"/>
            <p14:sldId id="746"/>
            <p14:sldId id="747"/>
            <p14:sldId id="748"/>
            <p14:sldId id="749"/>
            <p14:sldId id="750"/>
            <p14:sldId id="751"/>
          </p14:sldIdLst>
        </p14:section>
        <p14:section name="Conclusion" id="{A2C82C3C-BBE8-4E65-9315-5CB66193BF2C}">
          <p14:sldIdLst>
            <p14:sldId id="728"/>
            <p14:sldId id="401"/>
            <p14:sldId id="685"/>
            <p14:sldId id="4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83879" autoAdjust="0"/>
  </p:normalViewPr>
  <p:slideViewPr>
    <p:cSldViewPr showGuides="1">
      <p:cViewPr varScale="1">
        <p:scale>
          <a:sx n="68" d="100"/>
          <a:sy n="68" d="100"/>
        </p:scale>
        <p:origin x="1138" y="72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2400" y="77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Турхан Сюлейманов" userId="0038f54d-40de-47ea-9aa0-b4aea03759bf" providerId="ADAL" clId="{FF57B3B4-7DB2-4896-9733-A04CA1B9B5CF}"/>
    <pc:docChg chg="modSld">
      <pc:chgData name="Турхан Сюлейманов" userId="0038f54d-40de-47ea-9aa0-b4aea03759bf" providerId="ADAL" clId="{FF57B3B4-7DB2-4896-9733-A04CA1B9B5CF}" dt="2024-01-03T11:18:30.668" v="0" actId="14100"/>
      <pc:docMkLst>
        <pc:docMk/>
      </pc:docMkLst>
      <pc:sldChg chg="modSp mod">
        <pc:chgData name="Турхан Сюлейманов" userId="0038f54d-40de-47ea-9aa0-b4aea03759bf" providerId="ADAL" clId="{FF57B3B4-7DB2-4896-9733-A04CA1B9B5CF}" dt="2024-01-03T11:18:30.668" v="0" actId="14100"/>
        <pc:sldMkLst>
          <pc:docMk/>
          <pc:sldMk cId="1192512802" sldId="743"/>
        </pc:sldMkLst>
        <pc:spChg chg="mod">
          <ac:chgData name="Турхан Сюлейманов" userId="0038f54d-40de-47ea-9aa0-b4aea03759bf" providerId="ADAL" clId="{FF57B3B4-7DB2-4896-9733-A04CA1B9B5CF}" dt="2024-01-03T11:18:30.668" v="0" actId="14100"/>
          <ac:spMkLst>
            <pc:docMk/>
            <pc:sldMk cId="1192512802" sldId="743"/>
            <ac:spMk id="1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3.1.2024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568A34-DE21-445A-B2D3-706DD53F02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89145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52123C4-BD65-4C02-A276-87C5453906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22289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E61B11FD-9E2F-47E9-B57C-89227C598A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78693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0CBC18B9-84D4-4E76-A602-0198C673CF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75192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81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7896B14F-8CA9-4A64-A04C-9881DDA2611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488629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5381420A-A01F-49DF-8513-286232A3789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2709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7726EC7-1393-49B9-A262-2CD95FCCA0C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183411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59D8E3B-849F-4CC1-9835-D0F6912430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09218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hyperlink" Target="https://softuni.or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8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7" name="Slide Body Text">
            <a:extLst>
              <a:ext uri="{FF2B5EF4-FFF2-40B4-BE49-F238E27FC236}">
                <a16:creationId xmlns:a16="http://schemas.microsoft.com/office/drawing/2014/main" id="{1E60575F-8475-4C78-97A7-27D7891D27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15" name="Code Box">
            <a:extLst>
              <a:ext uri="{FF2B5EF4-FFF2-40B4-BE49-F238E27FC236}">
                <a16:creationId xmlns:a16="http://schemas.microsoft.com/office/drawing/2014/main" id="{29C63EC2-5578-406B-8C2A-23FDE6C14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318684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https://softuni.org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77" r:id="rId4"/>
    <p:sldLayoutId id="2147483679" r:id="rId5"/>
    <p:sldLayoutId id="2147483680" r:id="rId6"/>
    <p:sldLayoutId id="2147483688" r:id="rId7"/>
    <p:sldLayoutId id="2147483684" r:id="rId8"/>
    <p:sldLayoutId id="2147483690" r:id="rId9"/>
    <p:sldLayoutId id="2147483683" r:id="rId10"/>
    <p:sldLayoutId id="2147483685" r:id="rId11"/>
    <p:sldLayoutId id="2147483686" r:id="rId12"/>
    <p:sldLayoutId id="2147483687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hyperlink" Target="https://softuni.bg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softuni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666859" y="1230568"/>
            <a:ext cx="10965303" cy="882654"/>
          </a:xfrm>
        </p:spPr>
        <p:txBody>
          <a:bodyPr>
            <a:noAutofit/>
          </a:bodyPr>
          <a:lstStyle/>
          <a:p>
            <a:r>
              <a:rPr lang="bg-BG" sz="2800" dirty="0"/>
              <a:t>Математически и текстови функции в</a:t>
            </a:r>
            <a:r>
              <a:rPr lang="en-US" sz="2800" dirty="0"/>
              <a:t> SQL Server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Вградени функции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671147" y="4650873"/>
            <a:ext cx="2951518" cy="958651"/>
          </a:xfrm>
        </p:spPr>
        <p:txBody>
          <a:bodyPr/>
          <a:lstStyle/>
          <a:p>
            <a:r>
              <a:rPr lang="en-US" dirty="0"/>
              <a:t>SoftUni Team</a:t>
            </a:r>
          </a:p>
          <a:p>
            <a:endParaRPr lang="bg-BG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671147" y="5175130"/>
            <a:ext cx="2951518" cy="832014"/>
          </a:xfrm>
        </p:spPr>
        <p:txBody>
          <a:bodyPr/>
          <a:lstStyle/>
          <a:p>
            <a:r>
              <a:rPr lang="en-US" dirty="0"/>
              <a:t>Technical Trainers</a:t>
            </a:r>
          </a:p>
          <a:p>
            <a:endParaRPr lang="bg-BG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1FDE4B-E7CC-429A-9758-375FF267A56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19" y="2496258"/>
            <a:ext cx="2212117" cy="55174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075" y="2264347"/>
            <a:ext cx="2717812" cy="255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5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9" name="Rectangle 3"/>
          <p:cNvSpPr>
            <a:spLocks noGrp="1" noChangeArrowheads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bg-BG" dirty="0"/>
              <a:t>Функции</a:t>
            </a:r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bg-BG" dirty="0"/>
              <a:t>Функции за работа със </a:t>
            </a:r>
            <a:r>
              <a:rPr lang="en-US" dirty="0"/>
              <a:t>String</a:t>
            </a:r>
            <a:endParaRPr lang="bg-BG" dirty="0"/>
          </a:p>
          <a:p>
            <a:pPr marL="446088" indent="-446088">
              <a:lnSpc>
                <a:spcPts val="4000"/>
              </a:lnSpc>
              <a:buFontTx/>
              <a:buAutoNum type="arabicPeriod"/>
            </a:pPr>
            <a:r>
              <a:rPr lang="bg-BG" dirty="0"/>
              <a:t>Математически функции</a:t>
            </a:r>
            <a:endParaRPr lang="en-US" dirty="0"/>
          </a:p>
        </p:txBody>
      </p:sp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Съдържание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0074473-3297-4B8E-A89B-0769364B2574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26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44CAFE-1343-4FD5-BFC8-FD51CF3A344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Общ преглед</a:t>
            </a:r>
            <a:endParaRPr lang="en-US" dirty="0"/>
          </a:p>
        </p:txBody>
      </p:sp>
      <p:pic>
        <p:nvPicPr>
          <p:cNvPr id="1028" name="Picture 4" descr="Ð ÐµÐ·ÑÐ»ÑÐ°Ñ Ñ Ð¸Ð·Ð¾Ð±ÑÐ°Ð¶ÐµÐ½Ð¸Ðµ Ð·Ð° functions png">
            <a:extLst>
              <a:ext uri="{FF2B5EF4-FFF2-40B4-BE49-F238E27FC236}">
                <a16:creationId xmlns:a16="http://schemas.microsoft.com/office/drawing/2014/main" id="{98B06F06-A26D-4BAB-BF84-85C365DAA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704" y="805070"/>
            <a:ext cx="3648488" cy="364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10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776000" y="1121144"/>
            <a:ext cx="10170000" cy="4601924"/>
          </a:xfrm>
        </p:spPr>
        <p:txBody>
          <a:bodyPr>
            <a:noAutofit/>
          </a:bodyPr>
          <a:lstStyle/>
          <a:p>
            <a:pPr>
              <a:buClr>
                <a:schemeClr val="tx2"/>
              </a:buClr>
            </a:pPr>
            <a:r>
              <a:rPr lang="bg-BG" sz="3200" b="1" dirty="0" err="1">
                <a:solidFill>
                  <a:schemeClr val="bg1"/>
                </a:solidFill>
              </a:rPr>
              <a:t>Агрегиращи</a:t>
            </a:r>
            <a:r>
              <a:rPr lang="bg-BG" sz="3200" b="1" dirty="0">
                <a:solidFill>
                  <a:schemeClr val="bg1"/>
                </a:solidFill>
              </a:rPr>
              <a:t> функции</a:t>
            </a:r>
            <a:endParaRPr lang="en-US" sz="3200" b="1" dirty="0">
              <a:solidFill>
                <a:schemeClr val="bg1"/>
              </a:solidFill>
            </a:endParaRPr>
          </a:p>
          <a:p>
            <a:pPr lvl="1"/>
            <a:r>
              <a:rPr lang="bg-BG" sz="2800" dirty="0"/>
              <a:t>Извършват изчисления върху набор от стойности и връщат единична стойност като резултат</a:t>
            </a:r>
            <a:endParaRPr lang="en-US" sz="2800" dirty="0"/>
          </a:p>
          <a:p>
            <a:pPr lvl="1"/>
            <a:r>
              <a:rPr lang="bg-BG" sz="2800" dirty="0"/>
              <a:t>Примери</a:t>
            </a:r>
            <a:r>
              <a:rPr lang="en-US" sz="2800" dirty="0"/>
              <a:t>: AVG, COUNT, MIN, MAX, SUM</a:t>
            </a:r>
          </a:p>
          <a:p>
            <a:pPr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Аналитични функции</a:t>
            </a:r>
            <a:endParaRPr lang="en-US" sz="3200" b="1" dirty="0">
              <a:solidFill>
                <a:schemeClr val="bg1"/>
              </a:solidFill>
            </a:endParaRPr>
          </a:p>
          <a:p>
            <a:pPr lvl="1"/>
            <a:r>
              <a:rPr lang="bg-BG" sz="2800" dirty="0"/>
              <a:t>Изчисляват обобщена стойност въз основа на група редове</a:t>
            </a:r>
          </a:p>
          <a:p>
            <a:pPr lvl="1"/>
            <a:r>
              <a:rPr lang="bg-BG" sz="2800" dirty="0"/>
              <a:t>За разлика от </a:t>
            </a:r>
            <a:r>
              <a:rPr lang="bg-BG" sz="2800" dirty="0" err="1"/>
              <a:t>агрегиращите</a:t>
            </a:r>
            <a:r>
              <a:rPr lang="bg-BG" sz="2800" dirty="0"/>
              <a:t>, аналитичните могат да върнат няколко реда като резултат за всяка група</a:t>
            </a:r>
            <a:endParaRPr lang="en-US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bg-BG" dirty="0"/>
              <a:t>Функции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1F01A0B-B4E6-41E7-A4E2-7A28DC2DE1CA}"/>
              </a:ext>
            </a:extLst>
          </p:cNvPr>
          <p:cNvSpPr txBox="1">
            <a:spLocks/>
          </p:cNvSpPr>
          <p:nvPr/>
        </p:nvSpPr>
        <p:spPr>
          <a:xfrm>
            <a:off x="2008991" y="5726000"/>
            <a:ext cx="9625862" cy="830997"/>
          </a:xfrm>
          <a:prstGeom prst="rect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 sz="2800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sz="2400" dirty="0"/>
              <a:t>PERCENTILE_CONT(0.5) WITHIN GROUP (ORDER BY Salary DESC) OVER (PARTITION BY </a:t>
            </a:r>
            <a:r>
              <a:rPr lang="en-US" sz="2400" dirty="0" err="1"/>
              <a:t>DepartmentId</a:t>
            </a:r>
            <a:r>
              <a:rPr lang="en-US" sz="2400" dirty="0"/>
              <a:t>) AS </a:t>
            </a:r>
            <a:r>
              <a:rPr lang="en-US" sz="2400" dirty="0" err="1"/>
              <a:t>MedianCont</a:t>
            </a:r>
            <a:endParaRPr lang="en-US" sz="2400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FC0E731-F844-4DFC-81D5-96D90D36D28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78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866000" y="1044001"/>
            <a:ext cx="10129234" cy="562373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Функции за класиране
</a:t>
            </a:r>
            <a:r>
              <a:rPr lang="bg-BG" sz="2800" dirty="0"/>
              <a:t>Връща класираща стойност за всеки ред в дял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RANK, ROW_NUMBER, DENSE_RANK, NTILE (OVER)</a:t>
            </a:r>
          </a:p>
          <a:p>
            <a:pPr>
              <a:lnSpc>
                <a:spcPct val="100000"/>
              </a:lnSpc>
              <a:buClr>
                <a:schemeClr val="tx2"/>
              </a:buClr>
            </a:pPr>
            <a:r>
              <a:rPr lang="en-US" sz="3200" b="1" noProof="1">
                <a:solidFill>
                  <a:schemeClr val="bg1"/>
                </a:solidFill>
              </a:rPr>
              <a:t>Rowset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3200" b="1" dirty="0">
                <a:solidFill>
                  <a:schemeClr val="bg1"/>
                </a:solidFill>
              </a:rPr>
              <a:t>functions</a:t>
            </a:r>
          </a:p>
          <a:p>
            <a:pPr lvl="1">
              <a:lnSpc>
                <a:spcPct val="100000"/>
              </a:lnSpc>
            </a:pPr>
            <a:r>
              <a:rPr lang="bg-BG" sz="2800" noProof="1"/>
              <a:t>Връща обект, който може да се изпозлва като таблични референции</a:t>
            </a:r>
            <a:endParaRPr lang="en-US" sz="2800" dirty="0"/>
          </a:p>
          <a:p>
            <a:pPr lvl="1">
              <a:lnSpc>
                <a:spcPct val="100000"/>
              </a:lnSpc>
            </a:pPr>
            <a:r>
              <a:rPr lang="en-US" sz="2800" dirty="0"/>
              <a:t>OPENDATASOURCE, OPENJSON, OPENXML, OPENROWSET</a:t>
            </a:r>
          </a:p>
          <a:p>
            <a:pPr>
              <a:lnSpc>
                <a:spcPct val="100000"/>
              </a:lnSpc>
              <a:buClr>
                <a:schemeClr val="tx2"/>
              </a:buClr>
            </a:pPr>
            <a:r>
              <a:rPr lang="bg-BG" sz="3200" b="1" dirty="0">
                <a:solidFill>
                  <a:schemeClr val="bg1"/>
                </a:solidFill>
              </a:rPr>
              <a:t>Скаларни функции</a:t>
            </a:r>
            <a:endParaRPr lang="en-US" sz="3200" b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bg-BG" sz="2800" dirty="0"/>
              <a:t>Действат върху единична стойност и връщат единична стойност. </a:t>
            </a:r>
            <a:r>
              <a:rPr lang="ru-RU" sz="2800" dirty="0" err="1"/>
              <a:t>Могат</a:t>
            </a:r>
            <a:r>
              <a:rPr lang="ru-RU" sz="2800" dirty="0"/>
              <a:t> да се </a:t>
            </a:r>
            <a:r>
              <a:rPr lang="ru-RU" sz="2800" dirty="0" err="1"/>
              <a:t>използват</a:t>
            </a:r>
            <a:r>
              <a:rPr lang="ru-RU" sz="2800" dirty="0"/>
              <a:t>, </a:t>
            </a:r>
            <a:r>
              <a:rPr lang="ru-RU" sz="2800" dirty="0" err="1"/>
              <a:t>където</a:t>
            </a:r>
            <a:r>
              <a:rPr lang="ru-RU" sz="2800" dirty="0"/>
              <a:t> е валиден </a:t>
            </a:r>
            <a:r>
              <a:rPr lang="ru-RU" sz="2800" dirty="0" err="1"/>
              <a:t>израз</a:t>
            </a:r>
            <a:endParaRPr lang="en-US" sz="2800" dirty="0"/>
          </a:p>
          <a:p>
            <a:pPr marL="609219" lvl="1" indent="0">
              <a:lnSpc>
                <a:spcPct val="100000"/>
              </a:lnSpc>
              <a:buNone/>
            </a:pPr>
            <a:endParaRPr lang="en-US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</a:t>
            </a:r>
            <a:r>
              <a:rPr lang="bg-BG" dirty="0"/>
              <a:t>Функции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EE2404F-5ABC-4F1A-851E-DBD0FC3FC4A1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8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Ð ÐµÐ·ÑÐ»ÑÐ°Ñ Ñ Ð¸Ð·Ð¾Ð±ÑÐ°Ð¶ÐµÐ½Ð¸Ðµ Ð·Ð° abc png">
            <a:extLst>
              <a:ext uri="{FF2B5EF4-FFF2-40B4-BE49-F238E27FC236}">
                <a16:creationId xmlns:a16="http://schemas.microsoft.com/office/drawing/2014/main" id="{C25E9DF4-DD39-4C11-8114-A799A038D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385" y="1212575"/>
            <a:ext cx="2995230" cy="2995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0A84BDB-1BD2-4EFA-B394-5E5208C1554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Функции за работа със </a:t>
            </a:r>
            <a:r>
              <a:rPr lang="en-GB" dirty="0"/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69046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bg-BG" b="1" dirty="0">
                <a:solidFill>
                  <a:schemeClr val="bg1"/>
                </a:solidFill>
              </a:rPr>
              <a:t>Конкатенация/слепване</a:t>
            </a:r>
            <a:r>
              <a:rPr lang="en-US" dirty="0"/>
              <a:t> – </a:t>
            </a:r>
            <a:r>
              <a:rPr lang="bg-BG" dirty="0"/>
              <a:t>обединява стрингове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CONCAT</a:t>
            </a:r>
            <a:r>
              <a:rPr lang="en-US" dirty="0"/>
              <a:t> </a:t>
            </a:r>
            <a:r>
              <a:rPr lang="bg-BG" dirty="0"/>
              <a:t>заменя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NULL</a:t>
            </a:r>
            <a:r>
              <a:rPr lang="en-US" dirty="0"/>
              <a:t> </a:t>
            </a:r>
            <a:r>
              <a:rPr lang="bg-BG" dirty="0"/>
              <a:t>стойностите с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empty string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CONCAT_WS </a:t>
            </a:r>
            <a:r>
              <a:rPr lang="bg-BG" dirty="0"/>
              <a:t>обединява стрингове със сепаратор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работа със </a:t>
            </a:r>
            <a:r>
              <a:rPr lang="en-GB" dirty="0"/>
              <a:t>String</a:t>
            </a:r>
            <a:r>
              <a:rPr lang="en-US" dirty="0"/>
              <a:t> (1)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600200" y="1981201"/>
            <a:ext cx="8991600" cy="1384995"/>
          </a:xfrm>
          <a:prstGeom prst="rect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 sz="2800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SELECT FirstName </a:t>
            </a:r>
            <a:r>
              <a:rPr lang="en-US" dirty="0">
                <a:solidFill>
                  <a:schemeClr val="bg1"/>
                </a:solidFill>
              </a:rPr>
              <a:t>+ ' ' + </a:t>
            </a:r>
            <a:r>
              <a:rPr lang="en-US" dirty="0"/>
              <a:t>LastName</a:t>
            </a:r>
          </a:p>
          <a:p>
            <a:r>
              <a:rPr lang="en-US" dirty="0"/>
              <a:t>    AS [Full Name]</a:t>
            </a:r>
          </a:p>
          <a:p>
            <a:r>
              <a:rPr lang="en-US" dirty="0"/>
              <a:t>  FROM Employee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600200" y="3578917"/>
            <a:ext cx="8991600" cy="1384995"/>
          </a:xfrm>
          <a:prstGeom prst="rect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  <a:defRPr sz="2800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SELECT </a:t>
            </a:r>
            <a:r>
              <a:rPr lang="en-US" dirty="0">
                <a:solidFill>
                  <a:schemeClr val="bg1"/>
                </a:solidFill>
              </a:rPr>
              <a:t>CONCAT</a:t>
            </a:r>
            <a:r>
              <a:rPr lang="en-US" dirty="0"/>
              <a:t>(FirstName, ' ', LastName)</a:t>
            </a:r>
          </a:p>
          <a:p>
            <a:r>
              <a:rPr lang="en-US" dirty="0"/>
              <a:t>    AS [Full Name]</a:t>
            </a:r>
          </a:p>
          <a:p>
            <a:r>
              <a:rPr lang="en-US" dirty="0"/>
              <a:t>  FROM Employee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C1CE654C-1B40-4703-9CF5-21E408080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057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SUBSTRING </a:t>
            </a:r>
            <a:r>
              <a:rPr lang="en-US" dirty="0"/>
              <a:t>– </a:t>
            </a:r>
            <a:r>
              <a:rPr lang="bg-BG" dirty="0"/>
              <a:t>извлича част от стринг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bg-BG" dirty="0"/>
              <a:t>Пример</a:t>
            </a:r>
            <a:r>
              <a:rPr lang="en-US" dirty="0"/>
              <a:t>: </a:t>
            </a:r>
            <a:r>
              <a:rPr lang="bg-BG" dirty="0"/>
              <a:t>извличане на кратко</a:t>
            </a:r>
            <a:r>
              <a:rPr lang="en-US" dirty="0"/>
              <a:t> </a:t>
            </a:r>
            <a:r>
              <a:rPr lang="bg-BG" b="1" dirty="0">
                <a:solidFill>
                  <a:schemeClr val="bg1"/>
                </a:solidFill>
              </a:rPr>
              <a:t>обобщение</a:t>
            </a:r>
            <a:r>
              <a:rPr lang="en-US" dirty="0"/>
              <a:t> </a:t>
            </a:r>
            <a:r>
              <a:rPr lang="bg-BG" dirty="0"/>
              <a:t>върху статия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работа със </a:t>
            </a:r>
            <a:r>
              <a:rPr lang="en-GB" dirty="0"/>
              <a:t>String</a:t>
            </a:r>
            <a:r>
              <a:rPr lang="en-US" dirty="0"/>
              <a:t> (2)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600201" y="1981201"/>
            <a:ext cx="8991598" cy="523220"/>
          </a:xfrm>
          <a:prstGeom prst="rect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SUBSTRING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(String, StartIndex, Length)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762000" y="4331148"/>
            <a:ext cx="10668000" cy="1384995"/>
          </a:xfrm>
          <a:prstGeom prst="rect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ArticleId, Author, Content,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SUBSTRING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(Content, 1,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200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 + '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...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' AS Summary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Articles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C62B0D-CE08-4FC0-8F13-D6249F678681}"/>
              </a:ext>
            </a:extLst>
          </p:cNvPr>
          <p:cNvGrpSpPr/>
          <p:nvPr/>
        </p:nvGrpSpPr>
        <p:grpSpPr>
          <a:xfrm>
            <a:off x="1600201" y="2659520"/>
            <a:ext cx="8989287" cy="1039356"/>
            <a:chOff x="226242" y="2659519"/>
            <a:chExt cx="8989287" cy="103935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24AFE6A-3070-4A20-A519-DEEF2B235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242" y="2896501"/>
              <a:ext cx="6934199" cy="52322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SUBSTRING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('SoftUni', </a:t>
              </a: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5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, </a:t>
              </a: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3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5054837-1883-4374-AC97-0787557D8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4042" y="2896501"/>
              <a:ext cx="821487" cy="523220"/>
            </a:xfrm>
            <a:prstGeom prst="rect">
              <a:avLst/>
            </a:prstGeom>
            <a:solidFill>
              <a:srgbClr val="D9D5C7">
                <a:alpha val="20000"/>
              </a:srgb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Uni</a:t>
              </a:r>
            </a:p>
          </p:txBody>
        </p: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3986BCC1-B3D4-4FF8-B7C9-B039FE43617C}"/>
                </a:ext>
              </a:extLst>
            </p:cNvPr>
            <p:cNvSpPr/>
            <p:nvPr/>
          </p:nvSpPr>
          <p:spPr>
            <a:xfrm>
              <a:off x="7558816" y="2659519"/>
              <a:ext cx="494907" cy="1039356"/>
            </a:xfrm>
            <a:prstGeom prst="rightArrow">
              <a:avLst/>
            </a:prstGeom>
            <a:solidFill>
              <a:srgbClr val="D9D5C7">
                <a:alpha val="20000"/>
              </a:srgb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eaLnBrk="0" hangingPunct="0"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sz="2800" b="1">
                <a:solidFill>
                  <a:schemeClr val="tx1"/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sp>
        <p:nvSpPr>
          <p:cNvPr id="12" name="Slide Number">
            <a:extLst>
              <a:ext uri="{FF2B5EF4-FFF2-40B4-BE49-F238E27FC236}">
                <a16:creationId xmlns:a16="http://schemas.microsoft.com/office/drawing/2014/main" id="{C1A4627E-2625-4F29-8FCA-E0658FE3A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642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REPLACE</a:t>
            </a:r>
            <a:r>
              <a:rPr lang="en-US" dirty="0"/>
              <a:t> – </a:t>
            </a:r>
            <a:r>
              <a:rPr lang="bg-BG" dirty="0"/>
              <a:t>заменя един низ с друг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bg-BG" dirty="0"/>
              <a:t>Пример</a:t>
            </a:r>
            <a:r>
              <a:rPr lang="en-US" dirty="0"/>
              <a:t>: </a:t>
            </a:r>
            <a:r>
              <a:rPr lang="bg-BG" b="1" dirty="0">
                <a:solidFill>
                  <a:schemeClr val="bg1"/>
                </a:solidFill>
              </a:rPr>
              <a:t>цензурирайте</a:t>
            </a:r>
            <a:r>
              <a:rPr lang="en-US" dirty="0"/>
              <a:t> </a:t>
            </a:r>
            <a:r>
              <a:rPr lang="bg-BG" dirty="0"/>
              <a:t>думата кръв от всички имена на албуми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работа със </a:t>
            </a:r>
            <a:r>
              <a:rPr lang="en-GB" dirty="0"/>
              <a:t>String</a:t>
            </a:r>
            <a:r>
              <a:rPr lang="bg-BG" dirty="0"/>
              <a:t> </a:t>
            </a:r>
            <a:r>
              <a:rPr lang="en-US" dirty="0"/>
              <a:t>(3)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219200" y="2017489"/>
            <a:ext cx="9753600" cy="523220"/>
          </a:xfrm>
          <a:prstGeom prst="rect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REPLACE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(String, Pattern, Replacement)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207800" y="4727427"/>
            <a:ext cx="9753600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REPLACE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(Title, '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blood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', '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*****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’)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AS Title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FROM Album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64DBB2-2E17-4773-BC6C-8B3713512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1" y="2894664"/>
            <a:ext cx="6892208" cy="523220"/>
          </a:xfrm>
          <a:prstGeom prst="rect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REPLACE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('SoftUni', '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Soft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', '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Hard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')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E508B1-61EC-4C73-998F-A63A88482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602" y="2896502"/>
            <a:ext cx="1600200" cy="523220"/>
          </a:xfrm>
          <a:prstGeom prst="rect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HardUni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14034B2-6A6F-49FF-B451-573D5E000476}"/>
              </a:ext>
            </a:extLst>
          </p:cNvPr>
          <p:cNvSpPr/>
          <p:nvPr/>
        </p:nvSpPr>
        <p:spPr>
          <a:xfrm>
            <a:off x="8511406" y="2645009"/>
            <a:ext cx="494907" cy="1039356"/>
          </a:xfrm>
          <a:prstGeom prst="rightArrow">
            <a:avLst/>
          </a:prstGeom>
          <a:solidFill>
            <a:srgbClr val="D9D5C7">
              <a:alpha val="20000"/>
            </a:srgb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984EBDA7-1EC2-4766-AD2D-A9AC363AD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43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  <p:bldP spid="8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LTRIM </a:t>
            </a:r>
            <a:r>
              <a:rPr lang="en-US" dirty="0"/>
              <a:t>&amp; </a:t>
            </a:r>
            <a:r>
              <a:rPr lang="en-US" b="1" dirty="0">
                <a:solidFill>
                  <a:schemeClr val="bg1"/>
                </a:solidFill>
              </a:rPr>
              <a:t>RTRIM</a:t>
            </a:r>
            <a:r>
              <a:rPr lang="en-US" dirty="0"/>
              <a:t> – </a:t>
            </a:r>
            <a:r>
              <a:rPr lang="bg-BG" dirty="0"/>
              <a:t>премахва интервалите от лявата или дясната страна низ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LEN</a:t>
            </a:r>
            <a:r>
              <a:rPr lang="en-US" dirty="0"/>
              <a:t> – </a:t>
            </a:r>
            <a:r>
              <a:rPr lang="bg-BG" dirty="0"/>
              <a:t>брои символите в низ</a:t>
            </a:r>
            <a:br>
              <a:rPr lang="en-US" dirty="0"/>
            </a:br>
            <a:br>
              <a:rPr lang="bg-BG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DATALENGTH</a:t>
            </a:r>
            <a:r>
              <a:rPr lang="en-US" dirty="0"/>
              <a:t> – </a:t>
            </a:r>
            <a:r>
              <a:rPr lang="bg-BG" dirty="0"/>
              <a:t>връща броя на използваните байтове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работа със </a:t>
            </a:r>
            <a:r>
              <a:rPr lang="en-GB" dirty="0"/>
              <a:t>String</a:t>
            </a:r>
            <a:r>
              <a:rPr lang="en-US" dirty="0"/>
              <a:t> (4)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053114" y="4303141"/>
            <a:ext cx="3944259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LEN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(String)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053114" y="5944235"/>
            <a:ext cx="3944259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DATALENGTH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(String)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176742" y="2124000"/>
            <a:ext cx="3944258" cy="1342437"/>
            <a:chOff x="-410222" y="2023128"/>
            <a:chExt cx="2730641" cy="1342437"/>
          </a:xfrm>
        </p:grpSpPr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-410221" y="2023128"/>
              <a:ext cx="273064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LTRIM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(String)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-410222" y="2820800"/>
              <a:ext cx="2730641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RTRIM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(String)</a:t>
              </a:r>
            </a:p>
          </p:txBody>
        </p:sp>
      </p:grpSp>
      <p:sp>
        <p:nvSpPr>
          <p:cNvPr id="12" name="Slide Number">
            <a:extLst>
              <a:ext uri="{FF2B5EF4-FFF2-40B4-BE49-F238E27FC236}">
                <a16:creationId xmlns:a16="http://schemas.microsoft.com/office/drawing/2014/main" id="{1970472A-E039-4695-92FF-C8AB232CC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2373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LEFT</a:t>
            </a:r>
            <a:r>
              <a:rPr lang="en-US" dirty="0"/>
              <a:t> &amp; </a:t>
            </a:r>
            <a:r>
              <a:rPr lang="en-US" b="1" dirty="0">
                <a:solidFill>
                  <a:schemeClr val="bg1"/>
                </a:solidFill>
              </a:rPr>
              <a:t>RIGHT</a:t>
            </a:r>
            <a:r>
              <a:rPr lang="en-US" dirty="0"/>
              <a:t> – </a:t>
            </a:r>
            <a:r>
              <a:rPr lang="bg-BG" dirty="0"/>
              <a:t>извлича съответния брой знаци в началото или края на символен низ</a:t>
            </a:r>
          </a:p>
          <a:p>
            <a:pPr marL="0" indent="0">
              <a:buClr>
                <a:schemeClr val="tx1"/>
              </a:buCl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bg-BG" dirty="0"/>
              <a:t>Пример</a:t>
            </a:r>
            <a:r>
              <a:rPr lang="en-US" dirty="0"/>
              <a:t>: name </a:t>
            </a:r>
            <a:r>
              <a:rPr lang="bg-BG" b="1" dirty="0">
                <a:solidFill>
                  <a:schemeClr val="bg1"/>
                </a:solidFill>
              </a:rPr>
              <a:t>съкратено</a:t>
            </a:r>
            <a:r>
              <a:rPr lang="en-US" dirty="0"/>
              <a:t> (</a:t>
            </a:r>
            <a:r>
              <a:rPr lang="bg-BG" dirty="0"/>
              <a:t>първите</a:t>
            </a:r>
            <a:r>
              <a:rPr lang="en-US" dirty="0"/>
              <a:t> 3 </a:t>
            </a:r>
            <a:r>
              <a:rPr lang="bg-BG" dirty="0"/>
              <a:t>букви</a:t>
            </a:r>
            <a:r>
              <a:rPr lang="en-US" dirty="0"/>
              <a:t>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работа със </a:t>
            </a:r>
            <a:r>
              <a:rPr lang="en-GB" dirty="0"/>
              <a:t>String</a:t>
            </a:r>
            <a:r>
              <a:rPr lang="en-US" dirty="0"/>
              <a:t> (5)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743200" y="2430184"/>
            <a:ext cx="6720114" cy="1328882"/>
            <a:chOff x="2741612" y="1828800"/>
            <a:chExt cx="6032830" cy="1328882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741612" y="1828800"/>
              <a:ext cx="6019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LEFT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(String, Count)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754642" y="2612917"/>
              <a:ext cx="6019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RIGHT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(String, Count)</a:t>
              </a:r>
            </a:p>
          </p:txBody>
        </p:sp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743200" y="4856830"/>
            <a:ext cx="6705600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Id, Start,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LEFT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(Name,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 AS Shortened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Games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71529FB-B16B-4905-9D5E-89E16C13C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0223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LOWER</a:t>
            </a:r>
            <a:r>
              <a:rPr lang="en-US" dirty="0"/>
              <a:t> &amp; </a:t>
            </a:r>
            <a:r>
              <a:rPr lang="en-US" b="1" dirty="0">
                <a:solidFill>
                  <a:schemeClr val="bg1"/>
                </a:solidFill>
              </a:rPr>
              <a:t>UPPER</a:t>
            </a:r>
            <a:r>
              <a:rPr lang="en-US" dirty="0"/>
              <a:t> – </a:t>
            </a:r>
            <a:r>
              <a:rPr lang="bg-BG" dirty="0"/>
              <a:t>променя регистъра на буквите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REVERSE</a:t>
            </a:r>
            <a:r>
              <a:rPr lang="en-US" dirty="0"/>
              <a:t> – </a:t>
            </a:r>
            <a:r>
              <a:rPr lang="bg-BG" dirty="0"/>
              <a:t>обръща реда на знаците в низ</a:t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REPLICATE</a:t>
            </a:r>
            <a:r>
              <a:rPr lang="en-US" dirty="0"/>
              <a:t> – </a:t>
            </a:r>
            <a:r>
              <a:rPr lang="bg-BG" dirty="0"/>
              <a:t>повтаря низ, съответния брой пъти</a:t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FORMAT</a:t>
            </a:r>
            <a:r>
              <a:rPr lang="en-US" dirty="0"/>
              <a:t> – </a:t>
            </a:r>
            <a:r>
              <a:rPr lang="bg-BG" dirty="0"/>
              <a:t>форматира стойност с валиден</a:t>
            </a:r>
            <a:r>
              <a:rPr lang="en-US" dirty="0"/>
              <a:t> .NET </a:t>
            </a:r>
            <a:r>
              <a:rPr lang="bg-BG" dirty="0"/>
              <a:t>форматиращ низ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работа със </a:t>
            </a:r>
            <a:r>
              <a:rPr lang="en-GB" dirty="0"/>
              <a:t>String</a:t>
            </a:r>
            <a:r>
              <a:rPr lang="en-US" dirty="0"/>
              <a:t> (6)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657600" y="1804162"/>
            <a:ext cx="4876800" cy="1185782"/>
            <a:chOff x="2741612" y="1732548"/>
            <a:chExt cx="6019800" cy="1185782"/>
          </a:xfrm>
        </p:grpSpPr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741612" y="1732548"/>
              <a:ext cx="6019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LOWER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(String)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741612" y="2373565"/>
              <a:ext cx="6019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UPPER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(String)</a:t>
              </a:r>
            </a:p>
          </p:txBody>
        </p:sp>
      </p:grp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657600" y="3676317"/>
            <a:ext cx="4876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REVERSE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(String)</a:t>
            </a: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3657600" y="4885855"/>
            <a:ext cx="4876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REPLICATE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(String, Count)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3DFC70-220F-4A30-B979-2C79845BC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350" y="6095393"/>
            <a:ext cx="8337300" cy="52399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FORMAT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(SomeDate, 'yyyy-MMMM-dd', 'bg-BG')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9AED502C-5C89-4909-8356-B5056D4679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62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bg-BG" dirty="0"/>
              <a:t>Нашата БД съдържа детайли за кредитни карти на клиенти</a:t>
            </a:r>
            <a:endParaRPr lang="en-US" dirty="0"/>
          </a:p>
          <a:p>
            <a:r>
              <a:rPr lang="bg-BG" dirty="0"/>
              <a:t>Създайте обобщение без да разкривате серийните номера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</a:t>
            </a:r>
            <a:r>
              <a:rPr lang="en-US" dirty="0"/>
              <a:t>: </a:t>
            </a:r>
            <a:r>
              <a:rPr lang="bg-BG" dirty="0"/>
              <a:t>Маскиране номера на карти</a:t>
            </a:r>
            <a:endParaRPr lang="en-US" dirty="0"/>
          </a:p>
        </p:txBody>
      </p:sp>
      <p:graphicFrame>
        <p:nvGraphicFramePr>
          <p:cNvPr id="5" name="Group 49"/>
          <p:cNvGraphicFramePr>
            <a:graphicFrameLocks/>
          </p:cNvGraphicFramePr>
          <p:nvPr/>
        </p:nvGraphicFramePr>
        <p:xfrm>
          <a:off x="1416000" y="2489346"/>
          <a:ext cx="9360000" cy="1581912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95464585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1076083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ID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5DD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FirstName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5DD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LastName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5DD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PaymentNumber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5DD">
                        <a:alpha val="4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1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Guy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Gilbert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5645322227179083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2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Kevin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Brown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4417937746396076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…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…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…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88269"/>
                  </a:ext>
                </a:extLst>
              </a:tr>
            </a:tbl>
          </a:graphicData>
        </a:graphic>
      </p:graphicFrame>
      <p:graphicFrame>
        <p:nvGraphicFramePr>
          <p:cNvPr id="6" name="Group 49"/>
          <p:cNvGraphicFramePr>
            <a:graphicFrameLocks/>
          </p:cNvGraphicFramePr>
          <p:nvPr/>
        </p:nvGraphicFramePr>
        <p:xfrm>
          <a:off x="1416000" y="4778976"/>
          <a:ext cx="9360000" cy="1581912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954645857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31076083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ID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5DD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FirstName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5DD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LastName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5DD">
                        <a:alpha val="4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4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PaymentNumber</a:t>
                      </a:r>
                      <a:endParaRPr kumimoji="1" lang="bg-BG" sz="24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1D5DD">
                        <a:alpha val="4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1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Guy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Gilbert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bg-BG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564532</a:t>
                      </a: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**********</a:t>
                      </a:r>
                      <a:endParaRPr kumimoji="1" lang="bg-BG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2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Kevin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Brown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441793**********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…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…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endParaRPr kumimoji="1" lang="en-US" sz="20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en-US" sz="2000" b="1" i="0" u="none" strike="noStrike" cap="none" normalizeH="0" baseline="0" noProof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…</a:t>
                      </a:r>
                    </a:p>
                  </a:txBody>
                  <a:tcPr marL="157466" marR="157466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88269"/>
                  </a:ext>
                </a:extLst>
              </a:tr>
            </a:tbl>
          </a:graphicData>
        </a:graphic>
      </p:graphicFrame>
      <p:sp>
        <p:nvSpPr>
          <p:cNvPr id="7" name="Arrow: Down 6"/>
          <p:cNvSpPr/>
          <p:nvPr/>
        </p:nvSpPr>
        <p:spPr>
          <a:xfrm>
            <a:off x="5816600" y="4196895"/>
            <a:ext cx="558800" cy="487758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B31ACE06-2A75-43F1-8840-FAE9552A7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2737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bg-BG" dirty="0"/>
              <a:t>Разкриваме първите 6 цифри и маскираме останалите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bg-BG" dirty="0"/>
              <a:t>Бонус</a:t>
            </a:r>
            <a:r>
              <a:rPr lang="en-US" dirty="0"/>
              <a:t> – </a:t>
            </a:r>
            <a:r>
              <a:rPr lang="bg-BG" dirty="0"/>
              <a:t>създайте изглед</a:t>
            </a:r>
            <a:r>
              <a:rPr lang="en-US" dirty="0"/>
              <a:t> </a:t>
            </a:r>
            <a:r>
              <a:rPr lang="bg-BG" dirty="0"/>
              <a:t>за използване от клиентите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</a:t>
            </a:r>
            <a:r>
              <a:rPr lang="en-US" dirty="0"/>
              <a:t>: </a:t>
            </a:r>
            <a:r>
              <a:rPr lang="bg-BG" dirty="0"/>
              <a:t>Маскиране номера на карти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216024" y="2050144"/>
            <a:ext cx="9756776" cy="233371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05000"/>
              </a:lnSpc>
              <a:defRPr sz="2800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SELECT CustomerID,</a:t>
            </a:r>
          </a:p>
          <a:p>
            <a:r>
              <a:rPr lang="en-US" dirty="0"/>
              <a:t>       FirstName,</a:t>
            </a:r>
          </a:p>
          <a:p>
            <a:r>
              <a:rPr lang="en-US" dirty="0"/>
              <a:t>       LastName,</a:t>
            </a:r>
          </a:p>
          <a:p>
            <a:r>
              <a:rPr lang="en-US" dirty="0"/>
              <a:t>       </a:t>
            </a:r>
            <a:r>
              <a:rPr lang="en-US" dirty="0">
                <a:solidFill>
                  <a:schemeClr val="bg1"/>
                </a:solidFill>
              </a:rPr>
              <a:t>LEFT</a:t>
            </a:r>
            <a:r>
              <a:rPr lang="en-US" dirty="0"/>
              <a:t>(PaymentNumber, </a:t>
            </a:r>
            <a:r>
              <a:rPr lang="en-US" dirty="0">
                <a:solidFill>
                  <a:schemeClr val="bg1"/>
                </a:solidFill>
              </a:rPr>
              <a:t>6</a:t>
            </a:r>
            <a:r>
              <a:rPr lang="en-US" dirty="0"/>
              <a:t>) + '</a:t>
            </a:r>
            <a:r>
              <a:rPr lang="en-US" dirty="0">
                <a:solidFill>
                  <a:schemeClr val="bg1"/>
                </a:solidFill>
              </a:rPr>
              <a:t>**********</a:t>
            </a:r>
            <a:r>
              <a:rPr lang="en-US" dirty="0"/>
              <a:t>' </a:t>
            </a:r>
          </a:p>
          <a:p>
            <a:r>
              <a:rPr lang="en-US" dirty="0"/>
              <a:t>  FROM Customers</a:t>
            </a:r>
          </a:p>
        </p:txBody>
      </p:sp>
      <p:sp>
        <p:nvSpPr>
          <p:cNvPr id="6" name="Text Placeholder 5"/>
          <p:cNvSpPr txBox="1">
            <a:spLocks/>
          </p:cNvSpPr>
          <p:nvPr/>
        </p:nvSpPr>
        <p:spPr>
          <a:xfrm>
            <a:off x="1216024" y="5399995"/>
            <a:ext cx="9756776" cy="9971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05000"/>
              </a:lnSpc>
              <a:defRPr sz="2800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CREATE VIEW</a:t>
            </a:r>
            <a:r>
              <a:rPr lang="en-US" dirty="0"/>
              <a:t> v_PublicPaymentInfo </a:t>
            </a:r>
            <a:r>
              <a:rPr lang="en-US" dirty="0">
                <a:solidFill>
                  <a:schemeClr val="bg1"/>
                </a:solidFill>
              </a:rPr>
              <a:t>AS</a:t>
            </a:r>
          </a:p>
          <a:p>
            <a:r>
              <a:rPr lang="en-US" dirty="0"/>
              <a:t>…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19B90CB-5F95-4F16-9E38-913B16041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039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CHARINDEX </a:t>
            </a:r>
            <a:r>
              <a:rPr lang="en-US" dirty="0"/>
              <a:t>– </a:t>
            </a:r>
            <a:r>
              <a:rPr lang="bg-BG" dirty="0"/>
              <a:t>намира специфичен </a:t>
            </a:r>
            <a:r>
              <a:rPr lang="bg-BG" dirty="0" err="1"/>
              <a:t>подниз</a:t>
            </a:r>
            <a:r>
              <a:rPr lang="bg-BG" dirty="0"/>
              <a:t> (</a:t>
            </a:r>
            <a:r>
              <a:rPr lang="en-US" dirty="0"/>
              <a:t>pattern)</a:t>
            </a:r>
            <a:r>
              <a:rPr lang="bg-BG" dirty="0"/>
              <a:t> в низ</a:t>
            </a:r>
          </a:p>
          <a:p>
            <a:pPr marL="0" indent="0">
              <a:buClr>
                <a:schemeClr val="tx1"/>
              </a:buCl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STUFF</a:t>
            </a:r>
            <a:r>
              <a:rPr lang="en-US" dirty="0"/>
              <a:t> – </a:t>
            </a:r>
            <a:r>
              <a:rPr lang="bg-BG" dirty="0"/>
              <a:t>вмъква </a:t>
            </a:r>
            <a:r>
              <a:rPr lang="bg-BG" dirty="0" err="1"/>
              <a:t>подниз</a:t>
            </a:r>
            <a:r>
              <a:rPr lang="bg-BG" dirty="0"/>
              <a:t> от конкретна позиция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Функции за работа със </a:t>
            </a:r>
            <a:r>
              <a:rPr lang="en-GB" dirty="0"/>
              <a:t>String</a:t>
            </a:r>
            <a:r>
              <a:rPr lang="en-US" dirty="0"/>
              <a:t> (7)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370012" y="2657479"/>
            <a:ext cx="9450388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CHARINDEX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(Pattern, String, [StartIndex])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370012" y="4403803"/>
            <a:ext cx="9448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STUFF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(String, StartIndex, Length, Substring)</a:t>
            </a:r>
          </a:p>
        </p:txBody>
      </p:sp>
      <p:sp>
        <p:nvSpPr>
          <p:cNvPr id="13" name="AutoShape 5"/>
          <p:cNvSpPr>
            <a:spLocks noChangeArrowheads="1"/>
          </p:cNvSpPr>
          <p:nvPr/>
        </p:nvSpPr>
        <p:spPr bwMode="auto">
          <a:xfrm>
            <a:off x="6681000" y="1848440"/>
            <a:ext cx="4137812" cy="555395"/>
          </a:xfrm>
          <a:prstGeom prst="wedgeRoundRectCallout">
            <a:avLst>
              <a:gd name="adj1" fmla="val -37339"/>
              <a:gd name="adj2" fmla="val 98807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Опционално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започва с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</a:t>
            </a:r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AutoShape 5"/>
          <p:cNvSpPr>
            <a:spLocks noChangeArrowheads="1"/>
          </p:cNvSpPr>
          <p:nvPr/>
        </p:nvSpPr>
        <p:spPr bwMode="auto">
          <a:xfrm>
            <a:off x="4645059" y="5363852"/>
            <a:ext cx="2784852" cy="1018095"/>
          </a:xfrm>
          <a:prstGeom prst="wedgeRoundRectCallout">
            <a:avLst>
              <a:gd name="adj1" fmla="val 38197"/>
              <a:gd name="adj2" fmla="val -73413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Брой знаци за изтриване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0A293BB-FD18-4F8A-A0E8-E1295F767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9251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3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1D44BD-B236-4529-A001-FBA353F00F3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Аритметика</a:t>
            </a:r>
            <a:r>
              <a:rPr lang="en-GB" dirty="0"/>
              <a:t>, PI, ABS, ROUND, Etc.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846" y="1177612"/>
            <a:ext cx="3338265" cy="333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92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SQL Server </a:t>
            </a:r>
            <a:r>
              <a:rPr lang="bg-BG" dirty="0"/>
              <a:t>поддържа</a:t>
            </a:r>
            <a:r>
              <a:rPr lang="en-US" dirty="0"/>
              <a:t> </a:t>
            </a:r>
            <a:r>
              <a:rPr lang="bg-BG" b="1" dirty="0">
                <a:solidFill>
                  <a:schemeClr val="bg1"/>
                </a:solidFill>
              </a:rPr>
              <a:t>основни аритметични операции</a:t>
            </a:r>
            <a:endParaRPr lang="en-US" b="1" dirty="0">
              <a:solidFill>
                <a:schemeClr val="bg1"/>
              </a:solidFill>
            </a:endParaRPr>
          </a:p>
          <a:p>
            <a:r>
              <a:rPr lang="bg-BG" dirty="0"/>
              <a:t>Пример</a:t>
            </a:r>
            <a:r>
              <a:rPr lang="en-US" dirty="0"/>
              <a:t>: </a:t>
            </a:r>
            <a:r>
              <a:rPr lang="bg-BG" dirty="0"/>
              <a:t>Намерете лицето на триъгълник с дадена страна и височина към нея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Математически функции </a:t>
            </a:r>
            <a:r>
              <a:rPr lang="en-US" dirty="0"/>
              <a:t>(1)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85598" y="5184000"/>
            <a:ext cx="5029201" cy="144962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Id,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(A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H)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/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2 AS Area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Triangles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384366" y="3052350"/>
            <a:ext cx="3881457" cy="1771650"/>
            <a:chOff x="4195249" y="2590800"/>
            <a:chExt cx="3881457" cy="177165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95249" y="2590800"/>
              <a:ext cx="1543050" cy="1771650"/>
            </a:xfrm>
            <a:prstGeom prst="rect">
              <a:avLst/>
            </a:prstGeom>
          </p:spPr>
        </p:pic>
        <p:sp>
          <p:nvSpPr>
            <p:cNvPr id="8" name="Arrow: Right 7"/>
            <p:cNvSpPr/>
            <p:nvPr/>
          </p:nvSpPr>
          <p:spPr>
            <a:xfrm>
              <a:off x="5987444" y="3200891"/>
              <a:ext cx="578022" cy="45671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57506" y="2590800"/>
              <a:ext cx="1219200" cy="1771650"/>
            </a:xfrm>
            <a:prstGeom prst="rect">
              <a:avLst/>
            </a:prstGeom>
          </p:spPr>
        </p:pic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4760" y="2577718"/>
            <a:ext cx="3921652" cy="3703266"/>
          </a:xfrm>
          <a:prstGeom prst="rect">
            <a:avLst/>
          </a:prstGeom>
        </p:spPr>
      </p:pic>
      <p:sp>
        <p:nvSpPr>
          <p:cNvPr id="13" name="Slide Number">
            <a:extLst>
              <a:ext uri="{FF2B5EF4-FFF2-40B4-BE49-F238E27FC236}">
                <a16:creationId xmlns:a16="http://schemas.microsoft.com/office/drawing/2014/main" id="{EFC71D6D-660B-4105-B814-FB1A79009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4766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PI</a:t>
            </a:r>
            <a:r>
              <a:rPr lang="en-US" dirty="0"/>
              <a:t> – </a:t>
            </a:r>
            <a:r>
              <a:rPr lang="bg-BG" dirty="0"/>
              <a:t>връща стойността на </a:t>
            </a:r>
            <a:r>
              <a:rPr lang="bg-BG" dirty="0" err="1"/>
              <a:t>Пи</a:t>
            </a:r>
            <a:r>
              <a:rPr lang="bg-BG" dirty="0"/>
              <a:t> като </a:t>
            </a:r>
            <a:r>
              <a:rPr lang="en-US" dirty="0"/>
              <a:t>float (15 –</a:t>
            </a:r>
            <a:r>
              <a:rPr lang="bg-BG" dirty="0"/>
              <a:t>знака точност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ABS</a:t>
            </a:r>
            <a:r>
              <a:rPr lang="en-US" dirty="0"/>
              <a:t> – </a:t>
            </a:r>
            <a:r>
              <a:rPr lang="bg-BG" dirty="0"/>
              <a:t>абсолютна стойност</a:t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SQRT</a:t>
            </a:r>
            <a:r>
              <a:rPr lang="en-US" dirty="0"/>
              <a:t> – </a:t>
            </a:r>
            <a:r>
              <a:rPr lang="bg-BG" dirty="0"/>
              <a:t>корен квадратен </a:t>
            </a:r>
            <a:r>
              <a:rPr lang="en-US" dirty="0"/>
              <a:t>(</a:t>
            </a:r>
            <a:r>
              <a:rPr lang="bg-BG" dirty="0"/>
              <a:t>резултатът ще е</a:t>
            </a:r>
            <a:r>
              <a:rPr lang="en-US" dirty="0"/>
              <a:t> float)</a:t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SQUARE</a:t>
            </a:r>
            <a:r>
              <a:rPr lang="en-US" dirty="0"/>
              <a:t> – </a:t>
            </a:r>
            <a:r>
              <a:rPr lang="bg-BG" dirty="0"/>
              <a:t>повдига на втора степен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Математически функции </a:t>
            </a:r>
            <a:r>
              <a:rPr lang="en-US" dirty="0"/>
              <a:t>(2)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895600" y="1905001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SELECT PI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() </a:t>
            </a:r>
            <a:r>
              <a:rPr lang="en-US" sz="28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--3.14159265358979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895600" y="3115582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ABS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(Value)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895600" y="4382628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SQRT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(Value)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95600" y="5584376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SQUARE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(Value)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7555829-EEAC-41B2-8608-F3F06C46A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9630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bg-BG" dirty="0"/>
              <a:t>Намерете дължината на отсечка, ако са дадени координатите на крайните й точки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</a:t>
            </a:r>
            <a:r>
              <a:rPr lang="en-US" dirty="0"/>
              <a:t>: </a:t>
            </a:r>
            <a:r>
              <a:rPr lang="bg-BG" dirty="0"/>
              <a:t>Дължина на линия</a:t>
            </a:r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676400" y="4721941"/>
            <a:ext cx="8839200" cy="190205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SELECT Id,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  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SQRT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SQUARE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(X1-X2) + 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SQUARE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(Y1-Y2))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AS Length</a:t>
            </a:r>
          </a:p>
          <a:p>
            <a:pPr>
              <a:lnSpc>
                <a:spcPct val="105000"/>
              </a:lnSpc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FROM Lines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2438400" y="2422350"/>
            <a:ext cx="7315200" cy="1771650"/>
            <a:chOff x="2208212" y="2164648"/>
            <a:chExt cx="7315200" cy="177165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8212" y="2164648"/>
              <a:ext cx="2962275" cy="177165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7812" y="2164648"/>
              <a:ext cx="2895600" cy="1771650"/>
            </a:xfrm>
            <a:prstGeom prst="rect">
              <a:avLst/>
            </a:prstGeom>
          </p:spPr>
        </p:pic>
        <p:sp>
          <p:nvSpPr>
            <p:cNvPr id="8" name="Arrow: Right 7"/>
            <p:cNvSpPr/>
            <p:nvPr/>
          </p:nvSpPr>
          <p:spPr>
            <a:xfrm>
              <a:off x="5519452" y="2647246"/>
              <a:ext cx="757237" cy="806453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11" name="Slide Number">
            <a:extLst>
              <a:ext uri="{FF2B5EF4-FFF2-40B4-BE49-F238E27FC236}">
                <a16:creationId xmlns:a16="http://schemas.microsoft.com/office/drawing/2014/main" id="{A843615A-EE06-411E-801A-B2100FA379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990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POWER</a:t>
            </a:r>
            <a:r>
              <a:rPr lang="en-US" dirty="0"/>
              <a:t> – </a:t>
            </a:r>
            <a:r>
              <a:rPr lang="bg-BG" dirty="0"/>
              <a:t>повдига число на дадена степен</a:t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ROUND</a:t>
            </a:r>
            <a:r>
              <a:rPr lang="en-US" dirty="0"/>
              <a:t> – </a:t>
            </a:r>
            <a:r>
              <a:rPr lang="bg-BG" dirty="0"/>
              <a:t>задава желаната точност при закръгляне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dirty="0"/>
              <a:t>Negative precision rounds characters before the decimal point</a:t>
            </a: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FLOOR</a:t>
            </a:r>
            <a:r>
              <a:rPr lang="en-US" dirty="0"/>
              <a:t> &amp; </a:t>
            </a:r>
            <a:r>
              <a:rPr lang="en-US" b="1" dirty="0">
                <a:solidFill>
                  <a:schemeClr val="bg1"/>
                </a:solidFill>
              </a:rPr>
              <a:t>CEILING</a:t>
            </a:r>
            <a:r>
              <a:rPr lang="en-US" dirty="0"/>
              <a:t> – </a:t>
            </a:r>
            <a:r>
              <a:rPr lang="bg-BG" dirty="0"/>
              <a:t>връща най – близкото цяло число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Математически функции </a:t>
            </a:r>
            <a:r>
              <a:rPr lang="en-US" dirty="0"/>
              <a:t>(3)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895600" y="3747619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ROUND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(Value, Precision)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95600" y="1843572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POWER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(Value, Exponent)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95600" y="5101644"/>
            <a:ext cx="6400800" cy="1205645"/>
            <a:chOff x="2894012" y="5181600"/>
            <a:chExt cx="6400800" cy="1205645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894012" y="5181600"/>
              <a:ext cx="6400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FLOOR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(Value)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894012" y="5842480"/>
              <a:ext cx="6400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CEILING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(Value)</a:t>
              </a:r>
            </a:p>
          </p:txBody>
        </p:sp>
      </p:grpSp>
      <p:sp>
        <p:nvSpPr>
          <p:cNvPr id="14" name="Slide Number">
            <a:extLst>
              <a:ext uri="{FF2B5EF4-FFF2-40B4-BE49-F238E27FC236}">
                <a16:creationId xmlns:a16="http://schemas.microsoft.com/office/drawing/2014/main" id="{8AA6B3AD-F601-45CB-8264-DD6007F9B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7554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bg-BG" dirty="0"/>
              <a:t>Изчислете нужния брой палети, за да доставите всяка стока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</a:rPr>
              <a:t>BoxCapacity</a:t>
            </a:r>
            <a:r>
              <a:rPr lang="en-US" dirty="0"/>
              <a:t> </a:t>
            </a:r>
            <a:r>
              <a:rPr lang="bg-BG" dirty="0"/>
              <a:t>- елементи в един кашон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</a:rPr>
              <a:t>PalletCapacity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bg-BG" b="1" dirty="0">
                <a:solidFill>
                  <a:schemeClr val="bg1"/>
                </a:solidFill>
              </a:rPr>
              <a:t>– </a:t>
            </a:r>
            <a:r>
              <a:rPr lang="bg-BG" dirty="0"/>
              <a:t>кашони в един палет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Задача</a:t>
            </a:r>
            <a:r>
              <a:rPr lang="en-US" dirty="0"/>
              <a:t>: </a:t>
            </a:r>
            <a:r>
              <a:rPr lang="bg-BG" dirty="0"/>
              <a:t>Палети</a:t>
            </a:r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571444" y="3867150"/>
            <a:ext cx="11049112" cy="1771650"/>
            <a:chOff x="531700" y="3276600"/>
            <a:chExt cx="11049112" cy="1771650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1700" y="3276600"/>
              <a:ext cx="7724775" cy="1771650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23387" y="3276600"/>
              <a:ext cx="2257425" cy="1771650"/>
            </a:xfrm>
            <a:prstGeom prst="rect">
              <a:avLst/>
            </a:prstGeom>
          </p:spPr>
        </p:pic>
        <p:sp>
          <p:nvSpPr>
            <p:cNvPr id="27" name="Arrow: Right 26"/>
            <p:cNvSpPr/>
            <p:nvPr/>
          </p:nvSpPr>
          <p:spPr>
            <a:xfrm>
              <a:off x="8523231" y="3759198"/>
              <a:ext cx="533400" cy="806453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10" name="Slide Number">
            <a:extLst>
              <a:ext uri="{FF2B5EF4-FFF2-40B4-BE49-F238E27FC236}">
                <a16:creationId xmlns:a16="http://schemas.microsoft.com/office/drawing/2014/main" id="{8783A8A0-551A-46F4-851C-25CFBA3F6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35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bg-BG" dirty="0"/>
              <a:t>Понеже не можем да използваме половин кашон или половин палет, трябва да закръглим към по – голямото цяло число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Решение</a:t>
            </a:r>
            <a:r>
              <a:rPr lang="en-US" dirty="0"/>
              <a:t>: </a:t>
            </a:r>
            <a:r>
              <a:rPr lang="bg-BG" dirty="0"/>
              <a:t>Палети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903412" y="2882348"/>
            <a:ext cx="8385176" cy="329165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05000"/>
              </a:lnSpc>
              <a:defRPr sz="2800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SELECT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bg1"/>
                </a:solidFill>
              </a:rPr>
              <a:t>CEILING</a:t>
            </a:r>
            <a:r>
              <a:rPr lang="en-US" dirty="0"/>
              <a:t>(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CEILING</a:t>
            </a:r>
            <a:r>
              <a:rPr lang="en-US" dirty="0"/>
              <a:t>(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chemeClr val="bg1"/>
                </a:solidFill>
              </a:rPr>
              <a:t>CAST</a:t>
            </a:r>
            <a:r>
              <a:rPr lang="en-US" dirty="0"/>
              <a:t>(Quantity </a:t>
            </a:r>
            <a:r>
              <a:rPr lang="en-US" dirty="0">
                <a:solidFill>
                  <a:schemeClr val="bg1"/>
                </a:solidFill>
              </a:rPr>
              <a:t>AS</a:t>
            </a:r>
            <a:r>
              <a:rPr lang="en-US" dirty="0"/>
              <a:t> float) 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/>
              <a:t> </a:t>
            </a:r>
          </a:p>
          <a:p>
            <a:r>
              <a:rPr lang="en-US" dirty="0"/>
              <a:t>      BoxCapacity) 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en-US" dirty="0"/>
              <a:t> PalletCapacity)</a:t>
            </a:r>
          </a:p>
          <a:p>
            <a:r>
              <a:rPr lang="en-US" dirty="0"/>
              <a:t>    AS [Number of pallets]</a:t>
            </a:r>
          </a:p>
          <a:p>
            <a:r>
              <a:rPr lang="en-US" dirty="0"/>
              <a:t>  FROM Products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E416141-49F9-4467-A340-EE374F447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660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SIGN</a:t>
            </a:r>
            <a:r>
              <a:rPr lang="en-US" dirty="0"/>
              <a:t> – </a:t>
            </a:r>
            <a:r>
              <a:rPr lang="bg-BG" dirty="0"/>
              <a:t>връща</a:t>
            </a:r>
            <a:r>
              <a:rPr lang="en-US" dirty="0"/>
              <a:t> 1, -1 </a:t>
            </a:r>
            <a:r>
              <a:rPr lang="bg-BG" dirty="0"/>
              <a:t>или</a:t>
            </a:r>
            <a:r>
              <a:rPr lang="en-US" dirty="0"/>
              <a:t> 0, </a:t>
            </a:r>
            <a:r>
              <a:rPr lang="bg-BG" dirty="0"/>
              <a:t>в зависимост от знака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RAND</a:t>
            </a:r>
            <a:r>
              <a:rPr lang="en-US" dirty="0"/>
              <a:t> – </a:t>
            </a:r>
            <a:r>
              <a:rPr lang="bg-BG" dirty="0"/>
              <a:t>връща произволно реално число (</a:t>
            </a:r>
            <a:r>
              <a:rPr lang="en-US" dirty="0"/>
              <a:t>float</a:t>
            </a:r>
            <a:r>
              <a:rPr lang="bg-BG" dirty="0"/>
              <a:t>) в интервала</a:t>
            </a:r>
            <a:r>
              <a:rPr lang="en-US" dirty="0"/>
              <a:t> [0, 1]</a:t>
            </a:r>
          </a:p>
          <a:p>
            <a:pPr lvl="1">
              <a:buClr>
                <a:schemeClr val="tx1"/>
              </a:buClr>
            </a:pPr>
            <a:r>
              <a:rPr lang="bg-BG" dirty="0"/>
              <a:t>Ако не се укаже </a:t>
            </a:r>
            <a:r>
              <a:rPr lang="en-US" dirty="0"/>
              <a:t>seed, </a:t>
            </a:r>
            <a:r>
              <a:rPr lang="bg-BG" dirty="0"/>
              <a:t>ще се зададе случайно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Математически функции </a:t>
            </a:r>
            <a:r>
              <a:rPr lang="en-US" dirty="0"/>
              <a:t>(4)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895600" y="2092956"/>
            <a:ext cx="6400800" cy="54476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SIGN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(Value)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95600" y="5223844"/>
            <a:ext cx="6400800" cy="1220156"/>
            <a:chOff x="2894012" y="4549270"/>
            <a:chExt cx="6400800" cy="1220156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894012" y="4549270"/>
              <a:ext cx="6400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RAND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()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894012" y="5224661"/>
              <a:ext cx="6400800" cy="544765"/>
            </a:xfrm>
            <a:prstGeom prst="rect">
              <a:avLst/>
            </a:prstGeom>
            <a:solidFill>
              <a:schemeClr val="accent5">
                <a:lumMod val="40000"/>
                <a:lumOff val="60000"/>
                <a:alpha val="2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sz="2800" b="1" noProof="1">
                  <a:solidFill>
                    <a:schemeClr val="bg1"/>
                  </a:solidFill>
                  <a:latin typeface="Consolas" pitchFamily="49" charset="0"/>
                  <a:cs typeface="Consolas" pitchFamily="49" charset="0"/>
                </a:rPr>
                <a:t>RAND</a:t>
              </a:r>
              <a:r>
                <a:rPr lang="en-US" sz="2800" b="1" noProof="1">
                  <a:latin typeface="Consolas" pitchFamily="49" charset="0"/>
                  <a:cs typeface="Consolas" pitchFamily="49" charset="0"/>
                </a:rPr>
                <a:t>(Seed)</a:t>
              </a:r>
            </a:p>
          </p:txBody>
        </p:sp>
      </p:grpSp>
      <p:sp>
        <p:nvSpPr>
          <p:cNvPr id="11" name="Slide Number">
            <a:extLst>
              <a:ext uri="{FF2B5EF4-FFF2-40B4-BE49-F238E27FC236}">
                <a16:creationId xmlns:a16="http://schemas.microsoft.com/office/drawing/2014/main" id="{8668DD43-4329-45D0-9858-CAEDF36EB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0180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Обобщение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 dirty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FFA000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399" b="0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445613" y="1664770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6915" marR="0" lvl="0" indent="-456915" algn="l" defTabSz="1218438" rtl="0" eaLnBrk="1" fontAlgn="auto" latinLnBrk="1" hangingPunct="1">
              <a:lnSpc>
                <a:spcPct val="100000"/>
              </a:lnSpc>
              <a:spcBef>
                <a:spcPts val="138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58775" marR="0" lvl="0" indent="-358775" algn="l" defTabSz="1218438" rtl="0" eaLnBrk="1" fontAlgn="auto" latinLnBrk="1" hangingPunct="1">
              <a:lnSpc>
                <a:spcPct val="95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32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3074" y="1716562"/>
            <a:ext cx="8109892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bg-BG" sz="3200" dirty="0">
                <a:solidFill>
                  <a:schemeClr val="bg2"/>
                </a:solidFill>
              </a:rPr>
              <a:t>Разнообразни</a:t>
            </a:r>
            <a:r>
              <a:rPr lang="en-US" sz="3200" dirty="0">
                <a:solidFill>
                  <a:schemeClr val="bg2"/>
                </a:solidFill>
              </a:rPr>
              <a:t> </a:t>
            </a:r>
            <a:r>
              <a:rPr lang="bg-BG" sz="32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вградени функции</a:t>
            </a:r>
            <a:endParaRPr lang="en-US" sz="3200" b="1" dirty="0">
              <a:solidFill>
                <a:schemeClr val="bg1">
                  <a:lumMod val="60000"/>
                  <a:lumOff val="40000"/>
                </a:schemeClr>
              </a:solidFill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bg-BG" sz="3200" dirty="0">
                <a:solidFill>
                  <a:schemeClr val="bg2"/>
                </a:solidFill>
              </a:rPr>
              <a:t>Функции за работа със стрингове </a:t>
            </a:r>
            <a:r>
              <a:rPr lang="en-US" sz="3200" dirty="0">
                <a:solidFill>
                  <a:schemeClr val="bg2"/>
                </a:solidFill>
              </a:rPr>
              <a:t>-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CONCAT</a:t>
            </a:r>
            <a:r>
              <a:rPr lang="en-US" sz="3000" dirty="0">
                <a:solidFill>
                  <a:schemeClr val="bg2"/>
                </a:solidFill>
              </a:rPr>
              <a:t>,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LEFT</a:t>
            </a:r>
            <a:r>
              <a:rPr lang="en-US" sz="3000" dirty="0">
                <a:solidFill>
                  <a:schemeClr val="bg2"/>
                </a:solidFill>
              </a:rPr>
              <a:t>/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RIGHT</a:t>
            </a:r>
            <a:r>
              <a:rPr lang="en-US" sz="3000" dirty="0">
                <a:solidFill>
                  <a:schemeClr val="bg2"/>
                </a:solidFill>
              </a:rPr>
              <a:t>,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REPLACE</a:t>
            </a:r>
            <a:r>
              <a:rPr lang="bg-BG" sz="3000" dirty="0">
                <a:solidFill>
                  <a:schemeClr val="bg2"/>
                </a:solidFill>
              </a:rPr>
              <a:t> и </a:t>
            </a:r>
            <a:r>
              <a:rPr lang="bg-BG" sz="3000" dirty="0" err="1">
                <a:solidFill>
                  <a:schemeClr val="bg2"/>
                </a:solidFill>
              </a:rPr>
              <a:t>т.н</a:t>
            </a:r>
            <a:r>
              <a:rPr lang="en-US" sz="3000" dirty="0">
                <a:solidFill>
                  <a:schemeClr val="bg2"/>
                </a:solidFill>
              </a:rPr>
              <a:t>.</a:t>
            </a:r>
            <a:endParaRPr lang="en-US" sz="3000" b="1" dirty="0">
              <a:solidFill>
                <a:schemeClr val="bg2"/>
              </a:solidFill>
              <a:latin typeface="Consolas" panose="020B0609020204030204" pitchFamily="49" charset="0"/>
            </a:endParaRP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bg-BG" sz="3200" dirty="0">
                <a:solidFill>
                  <a:schemeClr val="bg2"/>
                </a:solidFill>
              </a:rPr>
              <a:t>Математически функции </a:t>
            </a:r>
            <a:r>
              <a:rPr lang="en-US" sz="3200" dirty="0">
                <a:solidFill>
                  <a:schemeClr val="bg2"/>
                </a:solidFill>
              </a:rPr>
              <a:t>-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PI</a:t>
            </a:r>
            <a:r>
              <a:rPr lang="en-US" sz="3000" dirty="0">
                <a:solidFill>
                  <a:schemeClr val="bg2"/>
                </a:solidFill>
              </a:rPr>
              <a:t>,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ABS</a:t>
            </a:r>
            <a:r>
              <a:rPr lang="en-US" sz="3000" dirty="0">
                <a:solidFill>
                  <a:schemeClr val="bg2"/>
                </a:solidFill>
              </a:rPr>
              <a:t>,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POWER</a:t>
            </a:r>
            <a:r>
              <a:rPr lang="en-US" sz="3000" dirty="0">
                <a:solidFill>
                  <a:schemeClr val="bg2"/>
                </a:solidFill>
              </a:rPr>
              <a:t>, 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ROUND</a:t>
            </a:r>
            <a:r>
              <a:rPr lang="bg-BG" sz="3000" dirty="0">
                <a:solidFill>
                  <a:schemeClr val="bg2"/>
                </a:solidFill>
              </a:rPr>
              <a:t> и т.н.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40B9FB93-0D52-4648-A913-9A0B60D03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8204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8800" dirty="0">
                <a:solidFill>
                  <a:srgbClr val="234465"/>
                </a:solidFill>
              </a:rPr>
              <a:t>Въпроси</a:t>
            </a:r>
            <a:r>
              <a:rPr lang="en-US" sz="8800" dirty="0">
                <a:solidFill>
                  <a:srgbClr val="234465"/>
                </a:solidFill>
              </a:rPr>
              <a:t>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15904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bg-BG" dirty="0"/>
              <a:t>Този курс</a:t>
            </a:r>
            <a:r>
              <a:rPr lang="en-US" dirty="0"/>
              <a:t> (</a:t>
            </a:r>
            <a:r>
              <a:rPr lang="bg-BG" dirty="0"/>
              <a:t>слайдове</a:t>
            </a:r>
            <a:r>
              <a:rPr lang="en-US" dirty="0"/>
              <a:t>, </a:t>
            </a:r>
            <a:r>
              <a:rPr lang="bg-BG" dirty="0"/>
              <a:t>примери</a:t>
            </a:r>
            <a:r>
              <a:rPr lang="en-US" dirty="0"/>
              <a:t>, </a:t>
            </a:r>
            <a:r>
              <a:rPr lang="bg-BG" dirty="0"/>
              <a:t>демо</a:t>
            </a:r>
            <a:r>
              <a:rPr lang="en-US" dirty="0"/>
              <a:t>, </a:t>
            </a:r>
            <a:r>
              <a:rPr lang="bg-BG" dirty="0"/>
              <a:t>упражнения</a:t>
            </a:r>
            <a:r>
              <a:rPr lang="en-US" dirty="0"/>
              <a:t>, </a:t>
            </a:r>
            <a:r>
              <a:rPr lang="bg-BG" dirty="0"/>
              <a:t>домашни работи</a:t>
            </a:r>
            <a:r>
              <a:rPr lang="en-US" dirty="0"/>
              <a:t>, </a:t>
            </a:r>
            <a:r>
              <a:rPr lang="bg-BG" dirty="0"/>
              <a:t>документи</a:t>
            </a:r>
            <a:r>
              <a:rPr lang="en-US" dirty="0"/>
              <a:t>, </a:t>
            </a:r>
            <a:r>
              <a:rPr lang="bg-BG" dirty="0"/>
              <a:t>видеа</a:t>
            </a:r>
            <a:r>
              <a:rPr lang="en-US" dirty="0"/>
              <a:t> </a:t>
            </a:r>
            <a:r>
              <a:rPr lang="bg-BG" dirty="0"/>
              <a:t>и други подобни</a:t>
            </a:r>
            <a:r>
              <a:rPr lang="en-US" dirty="0"/>
              <a:t>) </a:t>
            </a:r>
            <a:r>
              <a:rPr lang="bg-BG" dirty="0"/>
              <a:t>са</a:t>
            </a:r>
            <a:r>
              <a:rPr lang="en-US" dirty="0"/>
              <a:t> </a:t>
            </a:r>
            <a:r>
              <a:rPr lang="bg-BG" b="1" dirty="0"/>
              <a:t>обект на авторско право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dirty="0"/>
              <a:t>Не</a:t>
            </a:r>
            <a:r>
              <a:rPr lang="bg-BG" dirty="0"/>
              <a:t>позволено</a:t>
            </a:r>
            <a:r>
              <a:rPr lang="ru-RU" dirty="0"/>
              <a:t> </a:t>
            </a:r>
            <a:r>
              <a:rPr lang="ru-RU" dirty="0" err="1"/>
              <a:t>копиране</a:t>
            </a:r>
            <a:r>
              <a:rPr lang="ru-RU" dirty="0"/>
              <a:t>, </a:t>
            </a:r>
            <a:r>
              <a:rPr lang="ru-RU" dirty="0" err="1"/>
              <a:t>възпроизвеждане</a:t>
            </a:r>
            <a:r>
              <a:rPr lang="ru-RU" dirty="0"/>
              <a:t> или </a:t>
            </a:r>
            <a:r>
              <a:rPr lang="ru-RU" dirty="0" err="1"/>
              <a:t>използване</a:t>
            </a:r>
            <a:r>
              <a:rPr lang="ru-RU" dirty="0"/>
              <a:t> е незаконно
</a:t>
            </a: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https://softuni.org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456A2C7A-7301-4EC5-A522-02D6FC8D0D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799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3000" noProof="1">
                <a:hlinkClick r:id="rId4"/>
              </a:rPr>
              <a:t>softuni.org</a:t>
            </a:r>
            <a:r>
              <a:rPr lang="en-US" sz="3000" noProof="1"/>
              <a:t> </a:t>
            </a:r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3D5DAC4-74A7-4C27-947D-C173E355478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95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8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296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3523</TotalTime>
  <Words>1418</Words>
  <Application>Microsoft Office PowerPoint</Application>
  <PresentationFormat>Widescreen</PresentationFormat>
  <Paragraphs>247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Consolas</vt:lpstr>
      <vt:lpstr>Wingdings</vt:lpstr>
      <vt:lpstr>Wingdings 2</vt:lpstr>
      <vt:lpstr>SoftUni</vt:lpstr>
      <vt:lpstr>Вградени функции</vt:lpstr>
      <vt:lpstr>Съдържание</vt:lpstr>
      <vt:lpstr>Общ преглед</vt:lpstr>
      <vt:lpstr>SQL Функции</vt:lpstr>
      <vt:lpstr>SQL Функции</vt:lpstr>
      <vt:lpstr>Функции за работа със String</vt:lpstr>
      <vt:lpstr>Функции за работа със String (1)</vt:lpstr>
      <vt:lpstr>Функции за работа със String (2)</vt:lpstr>
      <vt:lpstr>Функции за работа със String (3)</vt:lpstr>
      <vt:lpstr>Функции за работа със String (4)</vt:lpstr>
      <vt:lpstr>Функции за работа със String (5)</vt:lpstr>
      <vt:lpstr>Функции за работа със String (6)</vt:lpstr>
      <vt:lpstr>Задача: Маскиране номера на карти</vt:lpstr>
      <vt:lpstr>Решение: Маскиране номера на карти</vt:lpstr>
      <vt:lpstr>Функции за работа със String (7)</vt:lpstr>
      <vt:lpstr>Аритметика, PI, ABS, ROUND, Etc.</vt:lpstr>
      <vt:lpstr>Математически функции (1)</vt:lpstr>
      <vt:lpstr>Математически функции (2)</vt:lpstr>
      <vt:lpstr>Пример: Дължина на линия</vt:lpstr>
      <vt:lpstr>Математически функции (3)</vt:lpstr>
      <vt:lpstr>Задача: Палети</vt:lpstr>
      <vt:lpstr>Решение: Палети</vt:lpstr>
      <vt:lpstr>Математически функции (4)</vt:lpstr>
      <vt:lpstr>Обобщение</vt:lpstr>
      <vt:lpstr>Въпроси?</vt:lpstr>
      <vt:lpstr>Лиценз</vt:lpstr>
      <vt:lpstr>Trainings @ Software University (SoftUni)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Built-in Functions</dc:title>
  <dc:subject>Databases Basics - MS SQL Server -  Practical Trainer @ SoftUni</dc:subject>
  <dc:creator>Software University</dc:creator>
  <cp:keywords>Databases; SQL; programming; SoftUni; Software University; programming; software development; software engineering; course; database systems</cp:keywords>
  <dc:description>© SoftUni – https://softuni.org_x000d_
© Software University – https://softuni.bg_x000d_
_x000d_
Copyrighted document. Unauthorized copy, reproduction or use is not permitted.</dc:description>
  <cp:lastModifiedBy>Турхан Сюлейманов</cp:lastModifiedBy>
  <cp:revision>10</cp:revision>
  <dcterms:created xsi:type="dcterms:W3CDTF">2018-05-23T13:08:44Z</dcterms:created>
  <dcterms:modified xsi:type="dcterms:W3CDTF">2024-01-03T11:18:42Z</dcterms:modified>
  <cp:category>db;databases;sql;programming;computer programming;software development</cp:category>
</cp:coreProperties>
</file>